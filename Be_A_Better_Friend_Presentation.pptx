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EE174C-3CD3-44C5-A641-F974564AFB52}" type="datetimeFigureOut">
              <a:rPr lang="ru-RU" smtClean="0"/>
              <a:t>20.10.2026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2FD01-4383-41FE-B5E8-B9535FF6AA21}" type="slidenum">
              <a:rPr lang="ru-RU" smtClean="0"/>
              <a:t>‹#›</a:t>
            </a:fld>
            <a:endParaRPr lang="ru-RU"/>
          </a:p>
        </p:txBody>
      </p:sp>
    </p:spTree>
    <p:extLst>
      <p:ext uri="{BB962C8B-B14F-4D97-AF65-F5344CB8AC3E}">
        <p14:creationId xmlns:p14="http://schemas.microsoft.com/office/powerpoint/2010/main" val="3425380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1 - OPENING SLIDE]
Good morning, dear teachers and classmates! Today, our 11th-grade group is proud to present our BSB-1 Project Work: 'BE A BETTER FRIEND!'
Our official campaign slogan is: 'Be the friend you wish to have!'
Our team consists of 4 members, each covering crucial aspects of friendship, rules, practical advice, and interactive activities.
Let's begin!</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1</a:t>
            </a:fld>
            <a:endParaRPr lang="ru-RU"/>
          </a:p>
        </p:txBody>
      </p:sp>
    </p:spTree>
    <p:extLst>
      <p:ext uri="{BB962C8B-B14F-4D97-AF65-F5344CB8AC3E}">
        <p14:creationId xmlns:p14="http://schemas.microsoft.com/office/powerpoint/2010/main" val="2162970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1 - MISSION &amp; PILLARS]
What is the core mission of our campaign?
It is not about expecting perfection from our friends. Real friendship means standing together when life becomes difficult.
Our campaign is built on five strong pillars:
1. Kindness - making everyone feel welcome.
2. Trust - maintaining confidentiality.
3. Honesty - clear, open communication.
4. Respect - valuing differences.
5. Support - helping through struggles.</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2</a:t>
            </a:fld>
            <a:endParaRPr lang="ru-RU"/>
          </a:p>
        </p:txBody>
      </p:sp>
    </p:spTree>
    <p:extLst>
      <p:ext uri="{BB962C8B-B14F-4D97-AF65-F5344CB8AC3E}">
        <p14:creationId xmlns:p14="http://schemas.microsoft.com/office/powerpoint/2010/main" val="2935026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2 - THE FIVE RULES]
Now, let's explore the Five Golden Rules of Friendship:
First, listen carefully. Listening is better than interrupting.
Second, be honest and trustworthy. Private secrets must remain confidential.
Third, show respect even when friends hold different opinions.
Fourth, offer support; ask 'How can I help you today?'
Fifth, solve problems calmly. Apologising when you are wrong is a sign of strength, not weakness!</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3</a:t>
            </a:fld>
            <a:endParaRPr lang="ru-RU"/>
          </a:p>
        </p:txBody>
      </p:sp>
    </p:spTree>
    <p:extLst>
      <p:ext uri="{BB962C8B-B14F-4D97-AF65-F5344CB8AC3E}">
        <p14:creationId xmlns:p14="http://schemas.microsoft.com/office/powerpoint/2010/main" val="3683394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3 - THREE PIECES OF ADVICE]
Here are three practical pieces of advice for our daily school life:
1. When your friend is feeling down: Just listen without judging.
2. In times of disagreement: You should speak honestly and avoid gossip.
3. When someone is left out: You could invite them to your table.
Notice our grammar structures: conditionals ('if...') and modal verbs ('should', 'could').</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4</a:t>
            </a:fld>
            <a:endParaRPr lang="ru-RU"/>
          </a:p>
        </p:txBody>
      </p:sp>
    </p:spTree>
    <p:extLst>
      <p:ext uri="{BB962C8B-B14F-4D97-AF65-F5344CB8AC3E}">
        <p14:creationId xmlns:p14="http://schemas.microsoft.com/office/powerpoint/2010/main" val="1824849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[ALL SPEAKERS - ROTATION]
This slide serves as the script overview.
Each speaker takes their turn smoothly:
- Speaker 1 introduces the theme and sets an inspiring tone.
- Speaker 2 explains the 5 rules clearly.
- Speaker 3 delivers the advice and language highlights.
- Speaker 4 motivates the room with the call to action!</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5</a:t>
            </a:fld>
            <a:endParaRPr lang="ru-RU"/>
          </a:p>
        </p:txBody>
      </p:sp>
    </p:spTree>
    <p:extLst>
      <p:ext uri="{BB962C8B-B14F-4D97-AF65-F5344CB8AC3E}">
        <p14:creationId xmlns:p14="http://schemas.microsoft.com/office/powerpoint/2010/main" val="1071487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3 - GRAMMAR DEMONSTRATION]
In Grade 11 BSB-1, linguistic accuracy is essential. We have integrated:
1. Comparatives: showing the contrast between good and bad habits.
2. Modals: 'should' for duty, 'could' for possibility, 'does not have to' for relief.
3. Conditionals: linking compassionate actions to positive classroom outcomes.
4. Linking words: creating natural flow and cohesion.</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6</a:t>
            </a:fld>
            <a:endParaRPr lang="ru-RU"/>
          </a:p>
        </p:txBody>
      </p:sp>
    </p:spTree>
    <p:extLst>
      <p:ext uri="{BB962C8B-B14F-4D97-AF65-F5344CB8AC3E}">
        <p14:creationId xmlns:p14="http://schemas.microsoft.com/office/powerpoint/2010/main" val="185419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4 - CLASS INTERACTION]
Now, dear classmates, we have a question for you:
'What is one small thing you can do today to be a better friend?'
(Ask 2 or 3 classmates to raise their hands and answer in English).
Then introduce the 7-Day Challenge:
Day 1-2: Give a compliment.
Day 3-4: Offer practical help.
Day 5-6: Include someone who is sitting alone.
Day 7: Express gratitude!</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7</a:t>
            </a:fld>
            <a:endParaRPr lang="ru-RU"/>
          </a:p>
        </p:txBody>
      </p:sp>
    </p:spTree>
    <p:extLst>
      <p:ext uri="{BB962C8B-B14F-4D97-AF65-F5344CB8AC3E}">
        <p14:creationId xmlns:p14="http://schemas.microsoft.com/office/powerpoint/2010/main" val="2383623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[ALL MEMBERS - Q&amp;A ROTATION]
Each group member can answer one of the questions if asked by the teacher:
- Member 1 can answer Q1 regarding trust.
- Member 2 can answer Q2 on handling disagreements calmly.
- Member 3 can answer Q3 on welcoming lonely peers.
- Member 4 can answer Q4 on repairing friendships after a misunderstanding.</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8</a:t>
            </a:fld>
            <a:endParaRPr lang="ru-RU"/>
          </a:p>
        </p:txBody>
      </p:sp>
    </p:spTree>
    <p:extLst>
      <p:ext uri="{BB962C8B-B14F-4D97-AF65-F5344CB8AC3E}">
        <p14:creationId xmlns:p14="http://schemas.microsoft.com/office/powerpoint/2010/main" val="2652611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4 - WORK PLAN &amp; POSTER]
Collaboration is the key to our project's success.
On the left, you can see our clear division of responsibilities and team agreement.
On the right, we showcase our classroom poster layout, designed to catch attention in school corridors and promote positive student relationships.</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9</a:t>
            </a:fld>
            <a:endParaRPr lang="ru-RU"/>
          </a:p>
        </p:txBody>
      </p:sp>
    </p:spTree>
    <p:extLst>
      <p:ext uri="{BB962C8B-B14F-4D97-AF65-F5344CB8AC3E}">
        <p14:creationId xmlns:p14="http://schemas.microsoft.com/office/powerpoint/2010/main" val="140461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mtClean="0"/>
              <a:t>[SPEAKER 4 - CONCLUSION]
In conclusion, we have fulfilled every requirement of the BSB-1 Project Work.
Remember our key message:
'A real friend does not have to solve every problem; sometimes, being present is enough.'
Be kind, be honest, and be a better friend!
Thank you for listening! We are now open for any questions.</a:t>
            </a:r>
            <a:endParaRPr lang="ru-RU"/>
          </a:p>
        </p:txBody>
      </p:sp>
      <p:sp>
        <p:nvSpPr>
          <p:cNvPr id="4" name="Номер слайда 3"/>
          <p:cNvSpPr>
            <a:spLocks noGrp="1"/>
          </p:cNvSpPr>
          <p:nvPr>
            <p:ph type="sldNum" sz="quarter" idx="10"/>
          </p:nvPr>
        </p:nvSpPr>
        <p:spPr/>
        <p:txBody>
          <a:bodyPr/>
          <a:lstStyle/>
          <a:p>
            <a:fld id="{0F92FD01-4383-41FE-B5E8-B9535FF6AA21}" type="slidenum">
              <a:rPr lang="ru-RU" smtClean="0"/>
              <a:t>10</a:t>
            </a:fld>
            <a:endParaRPr lang="ru-RU"/>
          </a:p>
        </p:txBody>
      </p:sp>
    </p:spTree>
    <p:extLst>
      <p:ext uri="{BB962C8B-B14F-4D97-AF65-F5344CB8AC3E}">
        <p14:creationId xmlns:p14="http://schemas.microsoft.com/office/powerpoint/2010/main" val="1474100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74966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382764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405800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987785AF-C59B-49AF-9497-73C773900AB9}" type="datetimeFigureOut">
              <a:rPr lang="ru-RU" smtClean="0"/>
              <a:t>20.10.2026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3117484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987785AF-C59B-49AF-9497-73C773900AB9}" type="datetimeFigureOut">
              <a:rPr lang="ru-RU" smtClean="0"/>
              <a:t>20.10.2026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2375745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987785AF-C59B-49AF-9497-73C773900AB9}" type="datetimeFigureOut">
              <a:rPr lang="ru-RU" smtClean="0"/>
              <a:t>20.10.2026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2646049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87785AF-C59B-49AF-9497-73C773900AB9}" type="datetimeFigureOut">
              <a:rPr lang="ru-RU" smtClean="0"/>
              <a:t>20.10.2026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3117883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987785AF-C59B-49AF-9497-73C773900AB9}" type="datetimeFigureOut">
              <a:rPr lang="ru-RU" smtClean="0"/>
              <a:t>20.10.2026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277285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987785AF-C59B-49AF-9497-73C773900AB9}" type="datetimeFigureOut">
              <a:rPr lang="ru-RU" smtClean="0"/>
              <a:t>20.10.2026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187689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367601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D51A361-B901-4708-A5DE-46AD727EF6A5}" type="slidenum">
              <a:rPr lang="ru-RU" smtClean="0"/>
              <a:t>‹#›</a:t>
            </a:fld>
            <a:endParaRPr lang="ru-RU"/>
          </a:p>
        </p:txBody>
      </p:sp>
    </p:spTree>
    <p:extLst>
      <p:ext uri="{BB962C8B-B14F-4D97-AF65-F5344CB8AC3E}">
        <p14:creationId xmlns:p14="http://schemas.microsoft.com/office/powerpoint/2010/main" val="2612998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7785AF-C59B-49AF-9497-73C773900AB9}" type="datetimeFigureOut">
              <a:rPr lang="ru-RU" smtClean="0"/>
              <a:t>20.10.2026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1A361-B901-4708-A5DE-46AD727EF6A5}" type="slidenum">
              <a:rPr lang="ru-RU" smtClean="0"/>
              <a:t>‹#›</a:t>
            </a:fld>
            <a:endParaRPr lang="ru-RU"/>
          </a:p>
        </p:txBody>
      </p:sp>
    </p:spTree>
    <p:extLst>
      <p:ext uri="{BB962C8B-B14F-4D97-AF65-F5344CB8AC3E}">
        <p14:creationId xmlns:p14="http://schemas.microsoft.com/office/powerpoint/2010/main" val="1759218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Овал 3"/>
          <p:cNvSpPr/>
          <p:nvPr/>
        </p:nvSpPr>
        <p:spPr>
          <a:xfrm>
            <a:off x="2921000" y="889000"/>
            <a:ext cx="6350000" cy="5080000"/>
          </a:xfrm>
          <a:prstGeom prst="ellipse">
            <a:avLst/>
          </a:prstGeom>
          <a:solidFill>
            <a:srgbClr val="1725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Скругленный прямоугольник 4"/>
          <p:cNvSpPr/>
          <p:nvPr/>
        </p:nvSpPr>
        <p:spPr>
          <a:xfrm>
            <a:off x="4318000" y="635000"/>
            <a:ext cx="3556000" cy="355600"/>
          </a:xfrm>
          <a:prstGeom prst="roundRect">
            <a:avLst/>
          </a:prstGeom>
          <a:solidFill>
            <a:srgbClr val="1E3A8A"/>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8BDF8"/>
                </a:solidFill>
                <a:latin typeface="Segoe UI" panose="020B0502040204020203" pitchFamily="34" charset="0"/>
              </a:rPr>
              <a:t>GRADE 11  *  BSB-1 PROJECT WORK</a:t>
            </a:r>
            <a:endParaRPr lang="ru-RU" sz="1100" b="1">
              <a:solidFill>
                <a:srgbClr val="38BDF8"/>
              </a:solidFill>
              <a:latin typeface="Segoe UI" panose="020B0502040204020203" pitchFamily="34" charset="0"/>
            </a:endParaRPr>
          </a:p>
        </p:txBody>
      </p:sp>
      <p:sp>
        <p:nvSpPr>
          <p:cNvPr id="6" name="TextBox 5"/>
          <p:cNvSpPr txBox="1"/>
          <p:nvPr/>
        </p:nvSpPr>
        <p:spPr>
          <a:xfrm>
            <a:off x="1016000" y="1206500"/>
            <a:ext cx="10160000" cy="769441"/>
          </a:xfrm>
          <a:prstGeom prst="rect">
            <a:avLst/>
          </a:prstGeom>
          <a:noFill/>
        </p:spPr>
        <p:txBody>
          <a:bodyPr vert="horz" rtlCol="0">
            <a:spAutoFit/>
          </a:bodyPr>
          <a:lstStyle/>
          <a:p>
            <a:pPr algn="ctr"/>
            <a:r>
              <a:rPr lang="en-US" sz="4400" b="1" smtClean="0">
                <a:solidFill>
                  <a:srgbClr val="FFFFFF"/>
                </a:solidFill>
                <a:latin typeface="Segoe UI" panose="020B0502040204020203" pitchFamily="34" charset="0"/>
              </a:rPr>
              <a:t>BE A BETTER FRIEND!</a:t>
            </a:r>
            <a:endParaRPr lang="ru-RU" sz="4400" b="1">
              <a:solidFill>
                <a:srgbClr val="FFFFFF"/>
              </a:solidFill>
              <a:latin typeface="Segoe UI" panose="020B0502040204020203" pitchFamily="34" charset="0"/>
            </a:endParaRPr>
          </a:p>
        </p:txBody>
      </p:sp>
      <p:sp>
        <p:nvSpPr>
          <p:cNvPr id="7" name="TextBox 6"/>
          <p:cNvSpPr txBox="1"/>
          <p:nvPr/>
        </p:nvSpPr>
        <p:spPr>
          <a:xfrm>
            <a:off x="1270000" y="2222500"/>
            <a:ext cx="9652000" cy="323165"/>
          </a:xfrm>
          <a:prstGeom prst="rect">
            <a:avLst/>
          </a:prstGeom>
          <a:noFill/>
        </p:spPr>
        <p:txBody>
          <a:bodyPr vert="horz" rtlCol="0">
            <a:spAutoFit/>
          </a:bodyPr>
          <a:lstStyle/>
          <a:p>
            <a:pPr algn="ctr"/>
            <a:r>
              <a:rPr lang="en-US" sz="1500" smtClean="0">
                <a:solidFill>
                  <a:srgbClr val="94A3B8"/>
                </a:solidFill>
                <a:latin typeface="Segoe UI" panose="020B0502040204020203" pitchFamily="34" charset="0"/>
              </a:rPr>
              <a:t>A Friendship Campaign for a Kinder, Safer and More Supportive School</a:t>
            </a:r>
            <a:endParaRPr lang="ru-RU" sz="1500">
              <a:solidFill>
                <a:srgbClr val="94A3B8"/>
              </a:solidFill>
              <a:latin typeface="Segoe UI" panose="020B0502040204020203" pitchFamily="34" charset="0"/>
            </a:endParaRPr>
          </a:p>
        </p:txBody>
      </p:sp>
      <p:sp>
        <p:nvSpPr>
          <p:cNvPr id="8" name="Скругленный прямоугольник 7"/>
          <p:cNvSpPr/>
          <p:nvPr/>
        </p:nvSpPr>
        <p:spPr>
          <a:xfrm>
            <a:off x="2032000" y="2857500"/>
            <a:ext cx="8128000" cy="1206500"/>
          </a:xfrm>
          <a:prstGeom prst="roundRect">
            <a:avLst/>
          </a:prstGeom>
          <a:solidFill>
            <a:srgbClr val="1E293B"/>
          </a:solidFill>
          <a:ln w="2540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2286000" y="2984500"/>
            <a:ext cx="7620000" cy="261610"/>
          </a:xfrm>
          <a:prstGeom prst="rect">
            <a:avLst/>
          </a:prstGeom>
          <a:noFill/>
        </p:spPr>
        <p:txBody>
          <a:bodyPr vert="horz" rtlCol="0">
            <a:spAutoFit/>
          </a:bodyPr>
          <a:lstStyle/>
          <a:p>
            <a:pPr algn="ctr"/>
            <a:r>
              <a:rPr lang="en-US" sz="1100" b="1" smtClean="0">
                <a:solidFill>
                  <a:srgbClr val="F59E0B"/>
                </a:solidFill>
                <a:latin typeface="Segoe UI" panose="020B0502040204020203" pitchFamily="34" charset="0"/>
              </a:rPr>
              <a:t>OFFICIAL CAMPAIGN SLOGAN</a:t>
            </a:r>
            <a:endParaRPr lang="ru-RU" sz="1100" b="1">
              <a:solidFill>
                <a:srgbClr val="F59E0B"/>
              </a:solidFill>
              <a:latin typeface="Segoe UI" panose="020B0502040204020203" pitchFamily="34" charset="0"/>
            </a:endParaRPr>
          </a:p>
        </p:txBody>
      </p:sp>
      <p:sp>
        <p:nvSpPr>
          <p:cNvPr id="10" name="TextBox 9"/>
          <p:cNvSpPr txBox="1"/>
          <p:nvPr/>
        </p:nvSpPr>
        <p:spPr>
          <a:xfrm>
            <a:off x="2286000" y="3302000"/>
            <a:ext cx="7620000" cy="461665"/>
          </a:xfrm>
          <a:prstGeom prst="rect">
            <a:avLst/>
          </a:prstGeom>
          <a:noFill/>
        </p:spPr>
        <p:txBody>
          <a:bodyPr vert="horz" rtlCol="0">
            <a:spAutoFit/>
          </a:bodyPr>
          <a:lstStyle/>
          <a:p>
            <a:pPr algn="ctr"/>
            <a:r>
              <a:rPr lang="en-US" sz="2400" b="1" smtClean="0">
                <a:solidFill>
                  <a:srgbClr val="FFFFFF"/>
                </a:solidFill>
                <a:latin typeface="Segoe UI" panose="020B0502040204020203" pitchFamily="34" charset="0"/>
              </a:rPr>
              <a:t>"Be the friend you wish to have!"</a:t>
            </a:r>
            <a:endParaRPr lang="ru-RU" sz="2400" b="1">
              <a:solidFill>
                <a:srgbClr val="FFFFFF"/>
              </a:solidFill>
              <a:latin typeface="Segoe UI" panose="020B0502040204020203" pitchFamily="34" charset="0"/>
            </a:endParaRPr>
          </a:p>
        </p:txBody>
      </p:sp>
      <p:sp>
        <p:nvSpPr>
          <p:cNvPr id="11" name="Скругленный прямоугольник 10"/>
          <p:cNvSpPr/>
          <p:nvPr/>
        </p:nvSpPr>
        <p:spPr>
          <a:xfrm>
            <a:off x="762000" y="4445000"/>
            <a:ext cx="2540000" cy="1079500"/>
          </a:xfrm>
          <a:prstGeom prst="roundRect">
            <a:avLst/>
          </a:prstGeom>
          <a:solidFill>
            <a:srgbClr val="182133"/>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8BDF8"/>
                </a:solidFill>
                <a:latin typeface="Segoe UI" panose="020B0502040204020203" pitchFamily="34" charset="0"/>
              </a:rPr>
              <a:t>MEMBER 1</a:t>
            </a:r>
          </a:p>
          <a:p>
            <a:pPr algn="ctr"/>
            <a:r>
              <a:rPr lang="en-US" sz="1000" smtClean="0">
                <a:solidFill>
                  <a:srgbClr val="94A3B8"/>
                </a:solidFill>
                <a:latin typeface="Segoe UI" panose="020B0502040204020203" pitchFamily="34" charset="0"/>
              </a:rPr>
              <a:t>Speaker 1: Campaign Leader</a:t>
            </a:r>
          </a:p>
          <a:p>
            <a:pPr algn="ctr"/>
            <a:r>
              <a:rPr lang="en-US" sz="1000" smtClean="0">
                <a:solidFill>
                  <a:srgbClr val="94A3B8"/>
                </a:solidFill>
                <a:latin typeface="Segoe UI" panose="020B0502040204020203" pitchFamily="34" charset="0"/>
              </a:rPr>
              <a:t>Opening Speech &amp; Mission</a:t>
            </a:r>
            <a:endParaRPr lang="ru-RU" sz="1000">
              <a:solidFill>
                <a:srgbClr val="94A3B8"/>
              </a:solidFill>
              <a:latin typeface="Segoe UI" panose="020B0502040204020203" pitchFamily="34" charset="0"/>
            </a:endParaRPr>
          </a:p>
        </p:txBody>
      </p:sp>
      <p:sp>
        <p:nvSpPr>
          <p:cNvPr id="12" name="Скругленный прямоугольник 11"/>
          <p:cNvSpPr/>
          <p:nvPr/>
        </p:nvSpPr>
        <p:spPr>
          <a:xfrm>
            <a:off x="3492500" y="4445000"/>
            <a:ext cx="2540000" cy="1079500"/>
          </a:xfrm>
          <a:prstGeom prst="roundRect">
            <a:avLst/>
          </a:prstGeom>
          <a:solidFill>
            <a:srgbClr val="182133"/>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8BDF8"/>
                </a:solidFill>
                <a:latin typeface="Segoe UI" panose="020B0502040204020203" pitchFamily="34" charset="0"/>
              </a:rPr>
              <a:t>MEMBER 2</a:t>
            </a:r>
          </a:p>
          <a:p>
            <a:pPr algn="ctr"/>
            <a:r>
              <a:rPr lang="en-US" sz="1000" smtClean="0">
                <a:solidFill>
                  <a:srgbClr val="94A3B8"/>
                </a:solidFill>
                <a:latin typeface="Segoe UI" panose="020B0502040204020203" pitchFamily="34" charset="0"/>
              </a:rPr>
              <a:t>Speaker 2: Rules Specialist</a:t>
            </a:r>
          </a:p>
          <a:p>
            <a:pPr algn="ctr"/>
            <a:r>
              <a:rPr lang="en-US" sz="1000" smtClean="0">
                <a:solidFill>
                  <a:srgbClr val="94A3B8"/>
                </a:solidFill>
                <a:latin typeface="Segoe UI" panose="020B0502040204020203" pitchFamily="34" charset="0"/>
              </a:rPr>
              <a:t>5 Golden Rules &amp; Examples</a:t>
            </a:r>
            <a:endParaRPr lang="ru-RU" sz="1000">
              <a:solidFill>
                <a:srgbClr val="94A3B8"/>
              </a:solidFill>
              <a:latin typeface="Segoe UI" panose="020B0502040204020203" pitchFamily="34" charset="0"/>
            </a:endParaRPr>
          </a:p>
        </p:txBody>
      </p:sp>
      <p:sp>
        <p:nvSpPr>
          <p:cNvPr id="13" name="Скругленный прямоугольник 12"/>
          <p:cNvSpPr/>
          <p:nvPr/>
        </p:nvSpPr>
        <p:spPr>
          <a:xfrm>
            <a:off x="6223000" y="4445000"/>
            <a:ext cx="2540000" cy="1079500"/>
          </a:xfrm>
          <a:prstGeom prst="roundRect">
            <a:avLst/>
          </a:prstGeom>
          <a:solidFill>
            <a:srgbClr val="182133"/>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8BDF8"/>
                </a:solidFill>
                <a:latin typeface="Segoe UI" panose="020B0502040204020203" pitchFamily="34" charset="0"/>
              </a:rPr>
              <a:t>MEMBER 3</a:t>
            </a:r>
          </a:p>
          <a:p>
            <a:pPr algn="ctr"/>
            <a:r>
              <a:rPr lang="en-US" sz="1000" smtClean="0">
                <a:solidFill>
                  <a:srgbClr val="94A3B8"/>
                </a:solidFill>
                <a:latin typeface="Segoe UI" panose="020B0502040204020203" pitchFamily="34" charset="0"/>
              </a:rPr>
              <a:t>Speaker 3: Advice &amp; Grammar</a:t>
            </a:r>
          </a:p>
          <a:p>
            <a:pPr algn="ctr"/>
            <a:r>
              <a:rPr lang="en-US" sz="1000" smtClean="0">
                <a:solidFill>
                  <a:srgbClr val="94A3B8"/>
                </a:solidFill>
                <a:latin typeface="Segoe UI" panose="020B0502040204020203" pitchFamily="34" charset="0"/>
              </a:rPr>
              <a:t>3 Tips &amp; Language Rules</a:t>
            </a:r>
            <a:endParaRPr lang="ru-RU" sz="1000">
              <a:solidFill>
                <a:srgbClr val="94A3B8"/>
              </a:solidFill>
              <a:latin typeface="Segoe UI" panose="020B0502040204020203" pitchFamily="34" charset="0"/>
            </a:endParaRPr>
          </a:p>
        </p:txBody>
      </p:sp>
      <p:sp>
        <p:nvSpPr>
          <p:cNvPr id="14" name="Скругленный прямоугольник 13"/>
          <p:cNvSpPr/>
          <p:nvPr/>
        </p:nvSpPr>
        <p:spPr>
          <a:xfrm>
            <a:off x="8953500" y="4445000"/>
            <a:ext cx="2540000" cy="1079500"/>
          </a:xfrm>
          <a:prstGeom prst="roundRect">
            <a:avLst/>
          </a:prstGeom>
          <a:solidFill>
            <a:srgbClr val="182133"/>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8BDF8"/>
                </a:solidFill>
                <a:latin typeface="Segoe UI" panose="020B0502040204020203" pitchFamily="34" charset="0"/>
              </a:rPr>
              <a:t>MEMBER 4</a:t>
            </a:r>
          </a:p>
          <a:p>
            <a:pPr algn="ctr"/>
            <a:r>
              <a:rPr lang="en-US" sz="1000" smtClean="0">
                <a:solidFill>
                  <a:srgbClr val="94A3B8"/>
                </a:solidFill>
                <a:latin typeface="Segoe UI" panose="020B0502040204020203" pitchFamily="34" charset="0"/>
              </a:rPr>
              <a:t>Speaker 4: Action &amp; Q&amp;A</a:t>
            </a:r>
          </a:p>
          <a:p>
            <a:pPr algn="ctr"/>
            <a:r>
              <a:rPr lang="en-US" sz="1000" smtClean="0">
                <a:solidFill>
                  <a:srgbClr val="94A3B8"/>
                </a:solidFill>
                <a:latin typeface="Segoe UI" panose="020B0502040204020203" pitchFamily="34" charset="0"/>
              </a:rPr>
              <a:t>Challenge, Poster &amp; Q&amp;A</a:t>
            </a:r>
            <a:endParaRPr lang="ru-RU" sz="1000">
              <a:solidFill>
                <a:srgbClr val="94A3B8"/>
              </a:solidFill>
              <a:latin typeface="Segoe UI" panose="020B0502040204020203" pitchFamily="34" charset="0"/>
            </a:endParaRPr>
          </a:p>
        </p:txBody>
      </p:sp>
    </p:spTree>
    <p:extLst>
      <p:ext uri="{BB962C8B-B14F-4D97-AF65-F5344CB8AC3E}">
        <p14:creationId xmlns:p14="http://schemas.microsoft.com/office/powerpoint/2010/main" val="3146607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01</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Our Campaign Mission</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Why friendship matters and how our campaign makes a positive difference</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10922000" cy="1206500"/>
          </a:xfrm>
          <a:prstGeom prst="roundRect">
            <a:avLst/>
          </a:prstGeom>
          <a:solidFill>
            <a:srgbClr val="1E293B"/>
          </a:solidFill>
          <a:ln w="1905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89000" y="1587500"/>
            <a:ext cx="10414000" cy="507831"/>
          </a:xfrm>
          <a:prstGeom prst="rect">
            <a:avLst/>
          </a:prstGeom>
          <a:noFill/>
        </p:spPr>
        <p:txBody>
          <a:bodyPr vert="horz" wrap="square" rtlCol="0">
            <a:spAutoFit/>
          </a:bodyPr>
          <a:lstStyle/>
          <a:p>
            <a:r>
              <a:rPr lang="en-US" sz="1350" i="1" smtClean="0">
                <a:solidFill>
                  <a:srgbClr val="FFFFFF"/>
                </a:solidFill>
                <a:latin typeface="Segoe UI" panose="020B0502040204020203" pitchFamily="34" charset="0"/>
              </a:rPr>
              <a:t>"Our campaign encourages students to build stronger friendships through kindness, trust, honesty, respect, and support. A good friendship is not about being perfect; it is about being there for each other, especially when life becomes difficult."</a:t>
            </a:r>
            <a:endParaRPr lang="ru-RU" sz="1350" i="1">
              <a:solidFill>
                <a:srgbClr val="FFFFFF"/>
              </a:solidFill>
              <a:latin typeface="Segoe UI" panose="020B0502040204020203" pitchFamily="34" charset="0"/>
            </a:endParaRPr>
          </a:p>
        </p:txBody>
      </p:sp>
      <p:sp>
        <p:nvSpPr>
          <p:cNvPr id="9" name="TextBox 8"/>
          <p:cNvSpPr txBox="1"/>
          <p:nvPr/>
        </p:nvSpPr>
        <p:spPr>
          <a:xfrm>
            <a:off x="635000" y="2857500"/>
            <a:ext cx="10922000" cy="276999"/>
          </a:xfrm>
          <a:prstGeom prst="rect">
            <a:avLst/>
          </a:prstGeom>
          <a:noFill/>
        </p:spPr>
        <p:txBody>
          <a:bodyPr vert="horz" rtlCol="0">
            <a:spAutoFit/>
          </a:bodyPr>
          <a:lstStyle/>
          <a:p>
            <a:r>
              <a:rPr lang="en-US" sz="1200" b="1" smtClean="0">
                <a:solidFill>
                  <a:srgbClr val="38BDF8"/>
                </a:solidFill>
                <a:latin typeface="Segoe UI" panose="020B0502040204020203" pitchFamily="34" charset="0"/>
              </a:rPr>
              <a:t>THE 5 CORE PILLARS OF OUR CAMPAIGN</a:t>
            </a:r>
            <a:endParaRPr lang="ru-RU" sz="1200" b="1">
              <a:solidFill>
                <a:srgbClr val="38BDF8"/>
              </a:solidFill>
              <a:latin typeface="Segoe UI" panose="020B0502040204020203" pitchFamily="34" charset="0"/>
            </a:endParaRPr>
          </a:p>
        </p:txBody>
      </p:sp>
      <p:sp>
        <p:nvSpPr>
          <p:cNvPr id="10" name="Скругленный прямоугольник 9"/>
          <p:cNvSpPr/>
          <p:nvPr/>
        </p:nvSpPr>
        <p:spPr>
          <a:xfrm>
            <a:off x="635000" y="3302000"/>
            <a:ext cx="2108200" cy="2921000"/>
          </a:xfrm>
          <a:prstGeom prst="roundRect">
            <a:avLst/>
          </a:prstGeom>
          <a:solidFill>
            <a:srgbClr val="1E293B"/>
          </a:solidFill>
          <a:ln w="1524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762000" y="3429000"/>
            <a:ext cx="1854200" cy="1369606"/>
          </a:xfrm>
          <a:prstGeom prst="rect">
            <a:avLst/>
          </a:prstGeom>
          <a:noFill/>
        </p:spPr>
        <p:txBody>
          <a:bodyPr vert="horz" wrap="square" rtlCol="0">
            <a:spAutoFit/>
          </a:bodyPr>
          <a:lstStyle/>
          <a:p>
            <a:pPr algn="ctr"/>
            <a:r>
              <a:rPr lang="en-US" sz="1400" b="1" smtClean="0">
                <a:solidFill>
                  <a:srgbClr val="F59E0B"/>
                </a:solidFill>
                <a:latin typeface="Segoe UI" panose="020B0502040204020203" pitchFamily="34" charset="0"/>
              </a:rPr>
              <a:t>01</a:t>
            </a:r>
          </a:p>
          <a:p>
            <a:pPr algn="ctr"/>
            <a:r>
              <a:rPr lang="en-US" sz="1400" b="1" smtClean="0">
                <a:solidFill>
                  <a:srgbClr val="FFFFFF"/>
                </a:solidFill>
                <a:latin typeface="Segoe UI" panose="020B0502040204020203" pitchFamily="34" charset="0"/>
              </a:rPr>
              <a:t>Kindness</a:t>
            </a:r>
          </a:p>
          <a:p>
            <a:pPr algn="ctr"/>
            <a:r>
              <a:rPr lang="en-US" sz="1100" smtClean="0">
                <a:solidFill>
                  <a:srgbClr val="94A3B8"/>
                </a:solidFill>
                <a:latin typeface="Segoe UI" panose="020B0502040204020203" pitchFamily="34" charset="0"/>
              </a:rPr>
              <a:t>Mehribonlik</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Small daily gestures that make classmates feel valued and safe.</a:t>
            </a:r>
            <a:endParaRPr lang="ru-RU" sz="1100">
              <a:solidFill>
                <a:srgbClr val="94A3B8"/>
              </a:solidFill>
              <a:latin typeface="Segoe UI" panose="020B0502040204020203" pitchFamily="34" charset="0"/>
            </a:endParaRPr>
          </a:p>
        </p:txBody>
      </p:sp>
      <p:sp>
        <p:nvSpPr>
          <p:cNvPr id="12" name="Скругленный прямоугольник 11"/>
          <p:cNvSpPr/>
          <p:nvPr/>
        </p:nvSpPr>
        <p:spPr>
          <a:xfrm>
            <a:off x="2870200" y="3302000"/>
            <a:ext cx="2108200" cy="2921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p:cNvSpPr txBox="1"/>
          <p:nvPr/>
        </p:nvSpPr>
        <p:spPr>
          <a:xfrm>
            <a:off x="2997200" y="3429000"/>
            <a:ext cx="1854200" cy="1369606"/>
          </a:xfrm>
          <a:prstGeom prst="rect">
            <a:avLst/>
          </a:prstGeom>
          <a:noFill/>
        </p:spPr>
        <p:txBody>
          <a:bodyPr vert="horz" wrap="square" rtlCol="0">
            <a:spAutoFit/>
          </a:bodyPr>
          <a:lstStyle/>
          <a:p>
            <a:pPr algn="ctr"/>
            <a:r>
              <a:rPr lang="en-US" sz="1400" b="1" smtClean="0">
                <a:solidFill>
                  <a:srgbClr val="38BDF8"/>
                </a:solidFill>
                <a:latin typeface="Segoe UI" panose="020B0502040204020203" pitchFamily="34" charset="0"/>
              </a:rPr>
              <a:t>02</a:t>
            </a:r>
          </a:p>
          <a:p>
            <a:pPr algn="ctr"/>
            <a:r>
              <a:rPr lang="en-US" sz="1400" b="1" smtClean="0">
                <a:solidFill>
                  <a:srgbClr val="FFFFFF"/>
                </a:solidFill>
                <a:latin typeface="Segoe UI" panose="020B0502040204020203" pitchFamily="34" charset="0"/>
              </a:rPr>
              <a:t>Trust</a:t>
            </a:r>
          </a:p>
          <a:p>
            <a:pPr algn="ctr"/>
            <a:r>
              <a:rPr lang="en-US" sz="1100" smtClean="0">
                <a:solidFill>
                  <a:srgbClr val="94A3B8"/>
                </a:solidFill>
                <a:latin typeface="Segoe UI" panose="020B0502040204020203" pitchFamily="34" charset="0"/>
              </a:rPr>
              <a:t>Ishonch</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Keeping secrets safe and being someone friends can always rely on.</a:t>
            </a:r>
            <a:endParaRPr lang="ru-RU" sz="1100">
              <a:solidFill>
                <a:srgbClr val="94A3B8"/>
              </a:solidFill>
              <a:latin typeface="Segoe UI" panose="020B0502040204020203" pitchFamily="34" charset="0"/>
            </a:endParaRPr>
          </a:p>
        </p:txBody>
      </p:sp>
      <p:sp>
        <p:nvSpPr>
          <p:cNvPr id="14" name="Скругленный прямоугольник 13"/>
          <p:cNvSpPr/>
          <p:nvPr/>
        </p:nvSpPr>
        <p:spPr>
          <a:xfrm>
            <a:off x="5105400" y="3302000"/>
            <a:ext cx="2108200" cy="2921000"/>
          </a:xfrm>
          <a:prstGeom prst="roundRect">
            <a:avLst/>
          </a:prstGeom>
          <a:solidFill>
            <a:srgbClr val="1E293B"/>
          </a:solidFill>
          <a:ln w="1524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p:cNvSpPr txBox="1"/>
          <p:nvPr/>
        </p:nvSpPr>
        <p:spPr>
          <a:xfrm>
            <a:off x="5232400" y="3429000"/>
            <a:ext cx="1854200" cy="1369606"/>
          </a:xfrm>
          <a:prstGeom prst="rect">
            <a:avLst/>
          </a:prstGeom>
          <a:noFill/>
        </p:spPr>
        <p:txBody>
          <a:bodyPr vert="horz" wrap="square" rtlCol="0">
            <a:spAutoFit/>
          </a:bodyPr>
          <a:lstStyle/>
          <a:p>
            <a:pPr algn="ctr"/>
            <a:r>
              <a:rPr lang="en-US" sz="1400" b="1" smtClean="0">
                <a:solidFill>
                  <a:srgbClr val="34D399"/>
                </a:solidFill>
                <a:latin typeface="Segoe UI" panose="020B0502040204020203" pitchFamily="34" charset="0"/>
              </a:rPr>
              <a:t>03</a:t>
            </a:r>
          </a:p>
          <a:p>
            <a:pPr algn="ctr"/>
            <a:r>
              <a:rPr lang="en-US" sz="1400" b="1" smtClean="0">
                <a:solidFill>
                  <a:srgbClr val="FFFFFF"/>
                </a:solidFill>
                <a:latin typeface="Segoe UI" panose="020B0502040204020203" pitchFamily="34" charset="0"/>
              </a:rPr>
              <a:t>Honesty</a:t>
            </a:r>
          </a:p>
          <a:p>
            <a:pPr algn="ctr"/>
            <a:r>
              <a:rPr lang="en-US" sz="1100" smtClean="0">
                <a:solidFill>
                  <a:srgbClr val="94A3B8"/>
                </a:solidFill>
                <a:latin typeface="Segoe UI" panose="020B0502040204020203" pitchFamily="34" charset="0"/>
              </a:rPr>
              <a:t>Haqiqatgoylik</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Speaking truth kindly without gossip, assumptions, or rumors.</a:t>
            </a:r>
            <a:endParaRPr lang="ru-RU" sz="1100">
              <a:solidFill>
                <a:srgbClr val="94A3B8"/>
              </a:solidFill>
              <a:latin typeface="Segoe UI" panose="020B0502040204020203" pitchFamily="34" charset="0"/>
            </a:endParaRPr>
          </a:p>
        </p:txBody>
      </p:sp>
      <p:sp>
        <p:nvSpPr>
          <p:cNvPr id="16" name="Скругленный прямоугольник 15"/>
          <p:cNvSpPr/>
          <p:nvPr/>
        </p:nvSpPr>
        <p:spPr>
          <a:xfrm>
            <a:off x="7340600" y="3302000"/>
            <a:ext cx="2108200" cy="2921000"/>
          </a:xfrm>
          <a:prstGeom prst="roundRect">
            <a:avLst/>
          </a:prstGeom>
          <a:solidFill>
            <a:srgbClr val="1E293B"/>
          </a:solidFill>
          <a:ln w="1524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7467600" y="3429000"/>
            <a:ext cx="1854200" cy="1369606"/>
          </a:xfrm>
          <a:prstGeom prst="rect">
            <a:avLst/>
          </a:prstGeom>
          <a:noFill/>
        </p:spPr>
        <p:txBody>
          <a:bodyPr vert="horz" wrap="square" rtlCol="0">
            <a:spAutoFit/>
          </a:bodyPr>
          <a:lstStyle/>
          <a:p>
            <a:pPr algn="ctr"/>
            <a:r>
              <a:rPr lang="en-US" sz="1400" b="1" smtClean="0">
                <a:solidFill>
                  <a:srgbClr val="C084FC"/>
                </a:solidFill>
                <a:latin typeface="Segoe UI" panose="020B0502040204020203" pitchFamily="34" charset="0"/>
              </a:rPr>
              <a:t>04</a:t>
            </a:r>
          </a:p>
          <a:p>
            <a:pPr algn="ctr"/>
            <a:r>
              <a:rPr lang="en-US" sz="1400" b="1" smtClean="0">
                <a:solidFill>
                  <a:srgbClr val="FFFFFF"/>
                </a:solidFill>
                <a:latin typeface="Segoe UI" panose="020B0502040204020203" pitchFamily="34" charset="0"/>
              </a:rPr>
              <a:t>Respect</a:t>
            </a:r>
          </a:p>
          <a:p>
            <a:pPr algn="ctr"/>
            <a:r>
              <a:rPr lang="en-US" sz="1100" smtClean="0">
                <a:solidFill>
                  <a:srgbClr val="94A3B8"/>
                </a:solidFill>
                <a:latin typeface="Segoe UI" panose="020B0502040204020203" pitchFamily="34" charset="0"/>
              </a:rPr>
              <a:t>Hurmat</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Valuing different opinions, personal boundaries, and unique feelings.</a:t>
            </a:r>
            <a:endParaRPr lang="ru-RU" sz="1100">
              <a:solidFill>
                <a:srgbClr val="94A3B8"/>
              </a:solidFill>
              <a:latin typeface="Segoe UI" panose="020B0502040204020203" pitchFamily="34" charset="0"/>
            </a:endParaRPr>
          </a:p>
        </p:txBody>
      </p:sp>
      <p:sp>
        <p:nvSpPr>
          <p:cNvPr id="18" name="Скругленный прямоугольник 17"/>
          <p:cNvSpPr/>
          <p:nvPr/>
        </p:nvSpPr>
        <p:spPr>
          <a:xfrm>
            <a:off x="9575800" y="3302000"/>
            <a:ext cx="2108200" cy="2921000"/>
          </a:xfrm>
          <a:prstGeom prst="roundRect">
            <a:avLst/>
          </a:prstGeom>
          <a:solidFill>
            <a:srgbClr val="1E293B"/>
          </a:solidFill>
          <a:ln w="15240">
            <a:solidFill>
              <a:srgbClr val="F472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Box 18"/>
          <p:cNvSpPr txBox="1"/>
          <p:nvPr/>
        </p:nvSpPr>
        <p:spPr>
          <a:xfrm>
            <a:off x="9702800" y="3429000"/>
            <a:ext cx="1854200" cy="1369606"/>
          </a:xfrm>
          <a:prstGeom prst="rect">
            <a:avLst/>
          </a:prstGeom>
          <a:noFill/>
        </p:spPr>
        <p:txBody>
          <a:bodyPr vert="horz" wrap="square" rtlCol="0">
            <a:spAutoFit/>
          </a:bodyPr>
          <a:lstStyle/>
          <a:p>
            <a:pPr algn="ctr"/>
            <a:r>
              <a:rPr lang="en-US" sz="1400" b="1" smtClean="0">
                <a:solidFill>
                  <a:srgbClr val="F472B6"/>
                </a:solidFill>
                <a:latin typeface="Segoe UI" panose="020B0502040204020203" pitchFamily="34" charset="0"/>
              </a:rPr>
              <a:t>05</a:t>
            </a:r>
          </a:p>
          <a:p>
            <a:pPr algn="ctr"/>
            <a:r>
              <a:rPr lang="en-US" sz="1400" b="1" smtClean="0">
                <a:solidFill>
                  <a:srgbClr val="FFFFFF"/>
                </a:solidFill>
                <a:latin typeface="Segoe UI" panose="020B0502040204020203" pitchFamily="34" charset="0"/>
              </a:rPr>
              <a:t>Support</a:t>
            </a:r>
          </a:p>
          <a:p>
            <a:pPr algn="ctr"/>
            <a:r>
              <a:rPr lang="en-US" sz="1100" smtClean="0">
                <a:solidFill>
                  <a:srgbClr val="94A3B8"/>
                </a:solidFill>
                <a:latin typeface="Segoe UI" panose="020B0502040204020203" pitchFamily="34" charset="0"/>
              </a:rPr>
              <a:t>Qollab-quvvatlash</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Standing beside friends when life gets tough or stressful.</a:t>
            </a:r>
            <a:endParaRPr lang="ru-RU" sz="1100">
              <a:solidFill>
                <a:srgbClr val="94A3B8"/>
              </a:solidFill>
              <a:latin typeface="Segoe UI" panose="020B0502040204020203" pitchFamily="34" charset="0"/>
            </a:endParaRPr>
          </a:p>
        </p:txBody>
      </p:sp>
    </p:spTree>
    <p:extLst>
      <p:ext uri="{BB962C8B-B14F-4D97-AF65-F5344CB8AC3E}">
        <p14:creationId xmlns:p14="http://schemas.microsoft.com/office/powerpoint/2010/main" val="360107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02</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Five Golden Rules of Friendship</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Essential rules to maintain healthy, resilient, and honest connections</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10922000" cy="863600"/>
          </a:xfrm>
          <a:prstGeom prst="roundRect">
            <a:avLst/>
          </a:prstGeom>
          <a:solidFill>
            <a:srgbClr val="1E293B"/>
          </a:solidFill>
          <a:ln w="12700">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Скругленный прямоугольник 7"/>
          <p:cNvSpPr/>
          <p:nvPr/>
        </p:nvSpPr>
        <p:spPr>
          <a:xfrm>
            <a:off x="787400" y="1612900"/>
            <a:ext cx="558800" cy="558800"/>
          </a:xfrm>
          <a:prstGeom prst="roundRect">
            <a:avLst/>
          </a:prstGeom>
          <a:solidFill>
            <a:srgbClr val="182133"/>
          </a:solidFill>
          <a:ln w="1905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smtClean="0">
                <a:solidFill>
                  <a:srgbClr val="38BDF8"/>
                </a:solidFill>
                <a:latin typeface="Segoe UI" panose="020B0502040204020203" pitchFamily="34" charset="0"/>
              </a:rPr>
              <a:t>1</a:t>
            </a:r>
            <a:endParaRPr lang="ru-RU" b="1">
              <a:solidFill>
                <a:srgbClr val="38BDF8"/>
              </a:solidFill>
              <a:latin typeface="Segoe UI" panose="020B0502040204020203" pitchFamily="34" charset="0"/>
            </a:endParaRPr>
          </a:p>
        </p:txBody>
      </p:sp>
      <p:sp>
        <p:nvSpPr>
          <p:cNvPr id="9" name="TextBox 8"/>
          <p:cNvSpPr txBox="1"/>
          <p:nvPr/>
        </p:nvSpPr>
        <p:spPr>
          <a:xfrm>
            <a:off x="1524000" y="1587500"/>
            <a:ext cx="9779000" cy="469359"/>
          </a:xfrm>
          <a:prstGeom prst="rect">
            <a:avLst/>
          </a:prstGeom>
          <a:noFill/>
        </p:spPr>
        <p:txBody>
          <a:bodyPr vert="horz" wrap="square" rtlCol="0">
            <a:spAutoFit/>
          </a:bodyPr>
          <a:lstStyle/>
          <a:p>
            <a:r>
              <a:rPr lang="en-US" sz="1350" b="1" smtClean="0">
                <a:solidFill>
                  <a:srgbClr val="FFFFFF"/>
                </a:solidFill>
                <a:latin typeface="Segoe UI" panose="020B0502040204020203" pitchFamily="34" charset="0"/>
              </a:rPr>
              <a:t>1. Listen Carefully</a:t>
            </a:r>
          </a:p>
          <a:p>
            <a:r>
              <a:rPr lang="en-US" sz="1100" smtClean="0">
                <a:solidFill>
                  <a:srgbClr val="94A3B8"/>
                </a:solidFill>
                <a:latin typeface="Segoe UI" panose="020B0502040204020203" pitchFamily="34" charset="0"/>
              </a:rPr>
              <a:t>Give your friend time to speak without rushing them. Do not interrupt or judge too quickly.</a:t>
            </a:r>
            <a:endParaRPr lang="ru-RU" sz="1100">
              <a:solidFill>
                <a:srgbClr val="94A3B8"/>
              </a:solidFill>
              <a:latin typeface="Segoe UI" panose="020B0502040204020203" pitchFamily="34" charset="0"/>
            </a:endParaRPr>
          </a:p>
        </p:txBody>
      </p:sp>
      <p:sp>
        <p:nvSpPr>
          <p:cNvPr id="10" name="Скругленный прямоугольник 9"/>
          <p:cNvSpPr/>
          <p:nvPr/>
        </p:nvSpPr>
        <p:spPr>
          <a:xfrm>
            <a:off x="635000" y="2438400"/>
            <a:ext cx="10922000" cy="863600"/>
          </a:xfrm>
          <a:prstGeom prst="roundRect">
            <a:avLst/>
          </a:prstGeom>
          <a:solidFill>
            <a:srgbClr val="1E293B"/>
          </a:solidFill>
          <a:ln w="12700">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Скругленный прямоугольник 10"/>
          <p:cNvSpPr/>
          <p:nvPr/>
        </p:nvSpPr>
        <p:spPr>
          <a:xfrm>
            <a:off x="787400" y="2590800"/>
            <a:ext cx="558800" cy="558800"/>
          </a:xfrm>
          <a:prstGeom prst="roundRect">
            <a:avLst/>
          </a:prstGeom>
          <a:solidFill>
            <a:srgbClr val="182133"/>
          </a:solidFill>
          <a:ln w="1905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smtClean="0">
                <a:solidFill>
                  <a:srgbClr val="F59E0B"/>
                </a:solidFill>
                <a:latin typeface="Segoe UI" panose="020B0502040204020203" pitchFamily="34" charset="0"/>
              </a:rPr>
              <a:t>2</a:t>
            </a:r>
            <a:endParaRPr lang="ru-RU" b="1">
              <a:solidFill>
                <a:srgbClr val="F59E0B"/>
              </a:solidFill>
              <a:latin typeface="Segoe UI" panose="020B0502040204020203" pitchFamily="34" charset="0"/>
            </a:endParaRPr>
          </a:p>
        </p:txBody>
      </p:sp>
      <p:sp>
        <p:nvSpPr>
          <p:cNvPr id="12" name="TextBox 11"/>
          <p:cNvSpPr txBox="1"/>
          <p:nvPr/>
        </p:nvSpPr>
        <p:spPr>
          <a:xfrm>
            <a:off x="1524000" y="2565400"/>
            <a:ext cx="9779000" cy="469359"/>
          </a:xfrm>
          <a:prstGeom prst="rect">
            <a:avLst/>
          </a:prstGeom>
          <a:noFill/>
        </p:spPr>
        <p:txBody>
          <a:bodyPr vert="horz" wrap="square" rtlCol="0">
            <a:spAutoFit/>
          </a:bodyPr>
          <a:lstStyle/>
          <a:p>
            <a:r>
              <a:rPr lang="en-US" sz="1350" b="1" smtClean="0">
                <a:solidFill>
                  <a:srgbClr val="FFFFFF"/>
                </a:solidFill>
                <a:latin typeface="Segoe UI" panose="020B0502040204020203" pitchFamily="34" charset="0"/>
              </a:rPr>
              <a:t>2. Be Honest and Trustworthy</a:t>
            </a:r>
          </a:p>
          <a:p>
            <a:r>
              <a:rPr lang="en-US" sz="1100" smtClean="0">
                <a:solidFill>
                  <a:srgbClr val="94A3B8"/>
                </a:solidFill>
                <a:latin typeface="Segoe UI" panose="020B0502040204020203" pitchFamily="34" charset="0"/>
              </a:rPr>
              <a:t>Tell the truth and keep private information confidential. Trust is easy to lose and hard to rebuild.</a:t>
            </a:r>
            <a:endParaRPr lang="ru-RU" sz="1100">
              <a:solidFill>
                <a:srgbClr val="94A3B8"/>
              </a:solidFill>
              <a:latin typeface="Segoe UI" panose="020B0502040204020203" pitchFamily="34" charset="0"/>
            </a:endParaRPr>
          </a:p>
        </p:txBody>
      </p:sp>
      <p:sp>
        <p:nvSpPr>
          <p:cNvPr id="13" name="Скругленный прямоугольник 12"/>
          <p:cNvSpPr/>
          <p:nvPr/>
        </p:nvSpPr>
        <p:spPr>
          <a:xfrm>
            <a:off x="635000" y="3416300"/>
            <a:ext cx="10922000" cy="863600"/>
          </a:xfrm>
          <a:prstGeom prst="roundRect">
            <a:avLst/>
          </a:prstGeom>
          <a:solidFill>
            <a:srgbClr val="1E293B"/>
          </a:solidFill>
          <a:ln w="12700">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Скругленный прямоугольник 13"/>
          <p:cNvSpPr/>
          <p:nvPr/>
        </p:nvSpPr>
        <p:spPr>
          <a:xfrm>
            <a:off x="787400" y="3568700"/>
            <a:ext cx="558800" cy="558800"/>
          </a:xfrm>
          <a:prstGeom prst="roundRect">
            <a:avLst/>
          </a:prstGeom>
          <a:solidFill>
            <a:srgbClr val="182133"/>
          </a:solidFill>
          <a:ln w="1905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smtClean="0">
                <a:solidFill>
                  <a:srgbClr val="34D399"/>
                </a:solidFill>
                <a:latin typeface="Segoe UI" panose="020B0502040204020203" pitchFamily="34" charset="0"/>
              </a:rPr>
              <a:t>3</a:t>
            </a:r>
            <a:endParaRPr lang="ru-RU" b="1">
              <a:solidFill>
                <a:srgbClr val="34D399"/>
              </a:solidFill>
              <a:latin typeface="Segoe UI" panose="020B0502040204020203" pitchFamily="34" charset="0"/>
            </a:endParaRPr>
          </a:p>
        </p:txBody>
      </p:sp>
      <p:sp>
        <p:nvSpPr>
          <p:cNvPr id="15" name="TextBox 14"/>
          <p:cNvSpPr txBox="1"/>
          <p:nvPr/>
        </p:nvSpPr>
        <p:spPr>
          <a:xfrm>
            <a:off x="1524000" y="3543300"/>
            <a:ext cx="9779000" cy="469359"/>
          </a:xfrm>
          <a:prstGeom prst="rect">
            <a:avLst/>
          </a:prstGeom>
          <a:noFill/>
        </p:spPr>
        <p:txBody>
          <a:bodyPr vert="horz" wrap="square" rtlCol="0">
            <a:spAutoFit/>
          </a:bodyPr>
          <a:lstStyle/>
          <a:p>
            <a:r>
              <a:rPr lang="en-US" sz="1350" b="1" smtClean="0">
                <a:solidFill>
                  <a:srgbClr val="FFFFFF"/>
                </a:solidFill>
                <a:latin typeface="Segoe UI" panose="020B0502040204020203" pitchFamily="34" charset="0"/>
              </a:rPr>
              <a:t>3. Show Respect</a:t>
            </a:r>
          </a:p>
          <a:p>
            <a:r>
              <a:rPr lang="en-US" sz="1100" smtClean="0">
                <a:solidFill>
                  <a:srgbClr val="94A3B8"/>
                </a:solidFill>
                <a:latin typeface="Segoe UI" panose="020B0502040204020203" pitchFamily="34" charset="0"/>
              </a:rPr>
              <a:t>Respect different opinions, unique interests, personal boundaries, and sensitive feelings.</a:t>
            </a:r>
            <a:endParaRPr lang="ru-RU" sz="1100">
              <a:solidFill>
                <a:srgbClr val="94A3B8"/>
              </a:solidFill>
              <a:latin typeface="Segoe UI" panose="020B0502040204020203" pitchFamily="34" charset="0"/>
            </a:endParaRPr>
          </a:p>
        </p:txBody>
      </p:sp>
      <p:sp>
        <p:nvSpPr>
          <p:cNvPr id="16" name="Скругленный прямоугольник 15"/>
          <p:cNvSpPr/>
          <p:nvPr/>
        </p:nvSpPr>
        <p:spPr>
          <a:xfrm>
            <a:off x="635000" y="4394200"/>
            <a:ext cx="10922000" cy="863600"/>
          </a:xfrm>
          <a:prstGeom prst="roundRect">
            <a:avLst/>
          </a:prstGeom>
          <a:solidFill>
            <a:srgbClr val="1E293B"/>
          </a:solidFill>
          <a:ln w="12700">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Скругленный прямоугольник 16"/>
          <p:cNvSpPr/>
          <p:nvPr/>
        </p:nvSpPr>
        <p:spPr>
          <a:xfrm>
            <a:off x="787400" y="4546600"/>
            <a:ext cx="558800" cy="558800"/>
          </a:xfrm>
          <a:prstGeom prst="roundRect">
            <a:avLst/>
          </a:prstGeom>
          <a:solidFill>
            <a:srgbClr val="182133"/>
          </a:solidFill>
          <a:ln w="1905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smtClean="0">
                <a:solidFill>
                  <a:srgbClr val="C084FC"/>
                </a:solidFill>
                <a:latin typeface="Segoe UI" panose="020B0502040204020203" pitchFamily="34" charset="0"/>
              </a:rPr>
              <a:t>4</a:t>
            </a:r>
            <a:endParaRPr lang="ru-RU" b="1">
              <a:solidFill>
                <a:srgbClr val="C084FC"/>
              </a:solidFill>
              <a:latin typeface="Segoe UI" panose="020B0502040204020203" pitchFamily="34" charset="0"/>
            </a:endParaRPr>
          </a:p>
        </p:txBody>
      </p:sp>
      <p:sp>
        <p:nvSpPr>
          <p:cNvPr id="18" name="TextBox 17"/>
          <p:cNvSpPr txBox="1"/>
          <p:nvPr/>
        </p:nvSpPr>
        <p:spPr>
          <a:xfrm>
            <a:off x="1524000" y="4521200"/>
            <a:ext cx="9779000" cy="469359"/>
          </a:xfrm>
          <a:prstGeom prst="rect">
            <a:avLst/>
          </a:prstGeom>
          <a:noFill/>
        </p:spPr>
        <p:txBody>
          <a:bodyPr vert="horz" wrap="square" rtlCol="0">
            <a:spAutoFit/>
          </a:bodyPr>
          <a:lstStyle/>
          <a:p>
            <a:r>
              <a:rPr lang="en-US" sz="1350" b="1" smtClean="0">
                <a:solidFill>
                  <a:srgbClr val="FFFFFF"/>
                </a:solidFill>
                <a:latin typeface="Segoe UI" panose="020B0502040204020203" pitchFamily="34" charset="0"/>
              </a:rPr>
              <a:t>4. Offer Support</a:t>
            </a:r>
          </a:p>
          <a:p>
            <a:r>
              <a:rPr lang="en-US" sz="1100" smtClean="0">
                <a:solidFill>
                  <a:srgbClr val="94A3B8"/>
                </a:solidFill>
                <a:latin typeface="Segoe UI" panose="020B0502040204020203" pitchFamily="34" charset="0"/>
              </a:rPr>
              <a:t>If your friend has a problem, ask how you can help instead of ignoring them or walking away.</a:t>
            </a:r>
            <a:endParaRPr lang="ru-RU" sz="1100">
              <a:solidFill>
                <a:srgbClr val="94A3B8"/>
              </a:solidFill>
              <a:latin typeface="Segoe UI" panose="020B0502040204020203" pitchFamily="34" charset="0"/>
            </a:endParaRPr>
          </a:p>
        </p:txBody>
      </p:sp>
      <p:sp>
        <p:nvSpPr>
          <p:cNvPr id="19" name="Скругленный прямоугольник 18"/>
          <p:cNvSpPr/>
          <p:nvPr/>
        </p:nvSpPr>
        <p:spPr>
          <a:xfrm>
            <a:off x="635000" y="5372100"/>
            <a:ext cx="10922000" cy="863600"/>
          </a:xfrm>
          <a:prstGeom prst="roundRect">
            <a:avLst/>
          </a:prstGeom>
          <a:solidFill>
            <a:srgbClr val="1E293B"/>
          </a:solidFill>
          <a:ln w="12700">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Скругленный прямоугольник 19"/>
          <p:cNvSpPr/>
          <p:nvPr/>
        </p:nvSpPr>
        <p:spPr>
          <a:xfrm>
            <a:off x="787400" y="5524500"/>
            <a:ext cx="558800" cy="558800"/>
          </a:xfrm>
          <a:prstGeom prst="roundRect">
            <a:avLst/>
          </a:prstGeom>
          <a:solidFill>
            <a:srgbClr val="182133"/>
          </a:solidFill>
          <a:ln w="19050">
            <a:solidFill>
              <a:srgbClr val="F472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smtClean="0">
                <a:solidFill>
                  <a:srgbClr val="F472B6"/>
                </a:solidFill>
                <a:latin typeface="Segoe UI" panose="020B0502040204020203" pitchFamily="34" charset="0"/>
              </a:rPr>
              <a:t>5</a:t>
            </a:r>
            <a:endParaRPr lang="ru-RU" b="1">
              <a:solidFill>
                <a:srgbClr val="F472B6"/>
              </a:solidFill>
              <a:latin typeface="Segoe UI" panose="020B0502040204020203" pitchFamily="34" charset="0"/>
            </a:endParaRPr>
          </a:p>
        </p:txBody>
      </p:sp>
      <p:sp>
        <p:nvSpPr>
          <p:cNvPr id="21" name="TextBox 20"/>
          <p:cNvSpPr txBox="1"/>
          <p:nvPr/>
        </p:nvSpPr>
        <p:spPr>
          <a:xfrm>
            <a:off x="1524000" y="5499100"/>
            <a:ext cx="9779000" cy="469359"/>
          </a:xfrm>
          <a:prstGeom prst="rect">
            <a:avLst/>
          </a:prstGeom>
          <a:noFill/>
        </p:spPr>
        <p:txBody>
          <a:bodyPr vert="horz" wrap="square" rtlCol="0">
            <a:spAutoFit/>
          </a:bodyPr>
          <a:lstStyle/>
          <a:p>
            <a:r>
              <a:rPr lang="en-US" sz="1350" b="1" smtClean="0">
                <a:solidFill>
                  <a:srgbClr val="FFFFFF"/>
                </a:solidFill>
                <a:latin typeface="Segoe UI" panose="020B0502040204020203" pitchFamily="34" charset="0"/>
              </a:rPr>
              <a:t>5. Solve Problems Calmly</a:t>
            </a:r>
          </a:p>
          <a:p>
            <a:r>
              <a:rPr lang="en-US" sz="1100" smtClean="0">
                <a:solidFill>
                  <a:srgbClr val="94A3B8"/>
                </a:solidFill>
                <a:latin typeface="Segoe UI" panose="020B0502040204020203" pitchFamily="34" charset="0"/>
              </a:rPr>
              <a:t>Talk about misunderstandings politely. Apologise sincerely when you are wrong and forgive when you can.</a:t>
            </a:r>
            <a:endParaRPr lang="ru-RU" sz="1100">
              <a:solidFill>
                <a:srgbClr val="94A3B8"/>
              </a:solidFill>
              <a:latin typeface="Segoe UI" panose="020B0502040204020203" pitchFamily="34" charset="0"/>
            </a:endParaRPr>
          </a:p>
        </p:txBody>
      </p:sp>
    </p:spTree>
    <p:extLst>
      <p:ext uri="{BB962C8B-B14F-4D97-AF65-F5344CB8AC3E}">
        <p14:creationId xmlns:p14="http://schemas.microsoft.com/office/powerpoint/2010/main" val="51770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03</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Three Pieces of Practical Advice</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Actionable guidance to turn friendship values into everyday classroom practice</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3492500" cy="4953000"/>
          </a:xfrm>
          <a:prstGeom prst="roundRect">
            <a:avLst/>
          </a:prstGeom>
          <a:solidFill>
            <a:srgbClr val="1E293B"/>
          </a:solidFill>
          <a:ln w="1905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Скругленный прямоугольник 7"/>
          <p:cNvSpPr/>
          <p:nvPr/>
        </p:nvSpPr>
        <p:spPr>
          <a:xfrm>
            <a:off x="825500" y="1625600"/>
            <a:ext cx="3111500" cy="2794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EMPATHY &amp; LISTENING</a:t>
            </a:r>
            <a:endParaRPr lang="ru-RU" sz="900" b="1">
              <a:solidFill>
                <a:srgbClr val="38BDF8"/>
              </a:solidFill>
              <a:latin typeface="Segoe UI" panose="020B0502040204020203" pitchFamily="34" charset="0"/>
            </a:endParaRPr>
          </a:p>
        </p:txBody>
      </p:sp>
      <p:sp>
        <p:nvSpPr>
          <p:cNvPr id="9" name="TextBox 8"/>
          <p:cNvSpPr txBox="1"/>
          <p:nvPr/>
        </p:nvSpPr>
        <p:spPr>
          <a:xfrm>
            <a:off x="825500" y="1968500"/>
            <a:ext cx="3111500" cy="292388"/>
          </a:xfrm>
          <a:prstGeom prst="rect">
            <a:avLst/>
          </a:prstGeom>
          <a:noFill/>
        </p:spPr>
        <p:txBody>
          <a:bodyPr vert="horz" rtlCol="0">
            <a:spAutoFit/>
          </a:bodyPr>
          <a:lstStyle/>
          <a:p>
            <a:pPr algn="ctr"/>
            <a:r>
              <a:rPr lang="en-US" sz="1300" b="1" smtClean="0">
                <a:solidFill>
                  <a:srgbClr val="FFFFFF"/>
                </a:solidFill>
                <a:latin typeface="Segoe UI" panose="020B0502040204020203" pitchFamily="34" charset="0"/>
              </a:rPr>
              <a:t>When a Friend Feels Sad</a:t>
            </a:r>
            <a:endParaRPr lang="ru-RU" sz="1300" b="1">
              <a:solidFill>
                <a:srgbClr val="FFFFFF"/>
              </a:solidFill>
              <a:latin typeface="Segoe UI" panose="020B0502040204020203" pitchFamily="34" charset="0"/>
            </a:endParaRPr>
          </a:p>
        </p:txBody>
      </p:sp>
      <p:sp>
        <p:nvSpPr>
          <p:cNvPr id="10" name="Скругленный прямоугольник 9"/>
          <p:cNvSpPr/>
          <p:nvPr/>
        </p:nvSpPr>
        <p:spPr>
          <a:xfrm>
            <a:off x="825500" y="2413000"/>
            <a:ext cx="3111500" cy="952500"/>
          </a:xfrm>
          <a:prstGeom prst="roundRect">
            <a:avLst/>
          </a:prstGeom>
          <a:solidFill>
            <a:srgbClr val="182133"/>
          </a:solidFill>
          <a:ln w="1270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i="1" smtClean="0">
                <a:solidFill>
                  <a:srgbClr val="FFFFFF"/>
                </a:solidFill>
                <a:latin typeface="Segoe UI" panose="020B0502040204020203" pitchFamily="34" charset="0"/>
              </a:rPr>
              <a:t>"If your friend feels sad, listen to them and ask what they need."</a:t>
            </a:r>
            <a:endParaRPr lang="ru-RU" sz="1050" i="1">
              <a:solidFill>
                <a:srgbClr val="FFFFFF"/>
              </a:solidFill>
              <a:latin typeface="Segoe UI" panose="020B0502040204020203" pitchFamily="34" charset="0"/>
            </a:endParaRPr>
          </a:p>
        </p:txBody>
      </p:sp>
      <p:sp>
        <p:nvSpPr>
          <p:cNvPr id="11" name="TextBox 10"/>
          <p:cNvSpPr txBox="1"/>
          <p:nvPr/>
        </p:nvSpPr>
        <p:spPr>
          <a:xfrm>
            <a:off x="825500" y="3492500"/>
            <a:ext cx="3111500" cy="1223412"/>
          </a:xfrm>
          <a:prstGeom prst="rect">
            <a:avLst/>
          </a:prstGeom>
          <a:noFill/>
        </p:spPr>
        <p:txBody>
          <a:bodyPr vert="horz" wrap="square" rtlCol="0">
            <a:spAutoFit/>
          </a:bodyPr>
          <a:lstStyle/>
          <a:p>
            <a:r>
              <a:rPr lang="en-US" sz="1050" smtClean="0">
                <a:solidFill>
                  <a:srgbClr val="94A3B8"/>
                </a:solidFill>
                <a:latin typeface="Segoe UI" panose="020B0502040204020203" pitchFamily="34" charset="0"/>
              </a:rPr>
              <a:t>Do not rush to give unsolicited advice or solve everything immediately. Sitting quietly and listening without judgment makes them feel safe and respected.</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Grammar: First Conditional (If + Present, Imperative)</a:t>
            </a:r>
            <a:endParaRPr lang="ru-RU" sz="1050">
              <a:solidFill>
                <a:srgbClr val="94A3B8"/>
              </a:solidFill>
              <a:latin typeface="Segoe UI" panose="020B0502040204020203" pitchFamily="34" charset="0"/>
            </a:endParaRPr>
          </a:p>
        </p:txBody>
      </p:sp>
      <p:sp>
        <p:nvSpPr>
          <p:cNvPr id="12" name="Скругленный прямоугольник 11"/>
          <p:cNvSpPr/>
          <p:nvPr/>
        </p:nvSpPr>
        <p:spPr>
          <a:xfrm>
            <a:off x="4381500" y="1460500"/>
            <a:ext cx="3492500" cy="4953000"/>
          </a:xfrm>
          <a:prstGeom prst="roundRect">
            <a:avLst/>
          </a:prstGeom>
          <a:solidFill>
            <a:srgbClr val="1E293B"/>
          </a:solidFill>
          <a:ln w="1905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кругленный прямоугольник 12"/>
          <p:cNvSpPr/>
          <p:nvPr/>
        </p:nvSpPr>
        <p:spPr>
          <a:xfrm>
            <a:off x="4572000" y="1625600"/>
            <a:ext cx="3111500" cy="2794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F59E0B"/>
                </a:solidFill>
                <a:latin typeface="Segoe UI" panose="020B0502040204020203" pitchFamily="34" charset="0"/>
              </a:rPr>
              <a:t>HONESTY &amp; INTEGRITY</a:t>
            </a:r>
            <a:endParaRPr lang="ru-RU" sz="900" b="1">
              <a:solidFill>
                <a:srgbClr val="F59E0B"/>
              </a:solidFill>
              <a:latin typeface="Segoe UI" panose="020B0502040204020203" pitchFamily="34" charset="0"/>
            </a:endParaRPr>
          </a:p>
        </p:txBody>
      </p:sp>
      <p:sp>
        <p:nvSpPr>
          <p:cNvPr id="14" name="TextBox 13"/>
          <p:cNvSpPr txBox="1"/>
          <p:nvPr/>
        </p:nvSpPr>
        <p:spPr>
          <a:xfrm>
            <a:off x="4572000" y="1968500"/>
            <a:ext cx="3111500" cy="292388"/>
          </a:xfrm>
          <a:prstGeom prst="rect">
            <a:avLst/>
          </a:prstGeom>
          <a:noFill/>
        </p:spPr>
        <p:txBody>
          <a:bodyPr vert="horz" rtlCol="0">
            <a:spAutoFit/>
          </a:bodyPr>
          <a:lstStyle/>
          <a:p>
            <a:pPr algn="ctr"/>
            <a:r>
              <a:rPr lang="en-US" sz="1300" b="1" smtClean="0">
                <a:solidFill>
                  <a:srgbClr val="FFFFFF"/>
                </a:solidFill>
                <a:latin typeface="Segoe UI" panose="020B0502040204020203" pitchFamily="34" charset="0"/>
              </a:rPr>
              <a:t>Handling Misunderstandings</a:t>
            </a:r>
            <a:endParaRPr lang="ru-RU" sz="1300" b="1">
              <a:solidFill>
                <a:srgbClr val="FFFFFF"/>
              </a:solidFill>
              <a:latin typeface="Segoe UI" panose="020B0502040204020203" pitchFamily="34" charset="0"/>
            </a:endParaRPr>
          </a:p>
        </p:txBody>
      </p:sp>
      <p:sp>
        <p:nvSpPr>
          <p:cNvPr id="15" name="Скругленный прямоугольник 14"/>
          <p:cNvSpPr/>
          <p:nvPr/>
        </p:nvSpPr>
        <p:spPr>
          <a:xfrm>
            <a:off x="4572000" y="2413000"/>
            <a:ext cx="3111500" cy="952500"/>
          </a:xfrm>
          <a:prstGeom prst="roundRect">
            <a:avLst/>
          </a:prstGeom>
          <a:solidFill>
            <a:srgbClr val="182133"/>
          </a:solidFill>
          <a:ln w="1270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i="1" smtClean="0">
                <a:solidFill>
                  <a:srgbClr val="FFFFFF"/>
                </a:solidFill>
                <a:latin typeface="Segoe UI" panose="020B0502040204020203" pitchFamily="34" charset="0"/>
              </a:rPr>
              <a:t>"You should talk honestly instead of spreading rumours or making assumptions."</a:t>
            </a:r>
            <a:endParaRPr lang="ru-RU" sz="1050" i="1">
              <a:solidFill>
                <a:srgbClr val="FFFFFF"/>
              </a:solidFill>
              <a:latin typeface="Segoe UI" panose="020B0502040204020203" pitchFamily="34" charset="0"/>
            </a:endParaRPr>
          </a:p>
        </p:txBody>
      </p:sp>
      <p:sp>
        <p:nvSpPr>
          <p:cNvPr id="16" name="TextBox 15"/>
          <p:cNvSpPr txBox="1"/>
          <p:nvPr/>
        </p:nvSpPr>
        <p:spPr>
          <a:xfrm>
            <a:off x="4572000" y="3492500"/>
            <a:ext cx="3111500" cy="1061829"/>
          </a:xfrm>
          <a:prstGeom prst="rect">
            <a:avLst/>
          </a:prstGeom>
          <a:noFill/>
        </p:spPr>
        <p:txBody>
          <a:bodyPr vert="horz" wrap="square" rtlCol="0">
            <a:spAutoFit/>
          </a:bodyPr>
          <a:lstStyle/>
          <a:p>
            <a:r>
              <a:rPr lang="en-US" sz="1050" smtClean="0">
                <a:solidFill>
                  <a:srgbClr val="94A3B8"/>
                </a:solidFill>
                <a:latin typeface="Segoe UI" panose="020B0502040204020203" pitchFamily="34" charset="0"/>
              </a:rPr>
              <a:t>Gossip breaks classroom unity. Speak openly and politely face-to-face with your friend rather than whispering behind their back or assuming bad intentions.</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Grammar: Modal Verb "should" for strong advice</a:t>
            </a:r>
            <a:endParaRPr lang="ru-RU" sz="1050">
              <a:solidFill>
                <a:srgbClr val="94A3B8"/>
              </a:solidFill>
              <a:latin typeface="Segoe UI" panose="020B0502040204020203" pitchFamily="34" charset="0"/>
            </a:endParaRPr>
          </a:p>
        </p:txBody>
      </p:sp>
      <p:sp>
        <p:nvSpPr>
          <p:cNvPr id="17" name="Скругленный прямоугольник 16"/>
          <p:cNvSpPr/>
          <p:nvPr/>
        </p:nvSpPr>
        <p:spPr>
          <a:xfrm>
            <a:off x="8128000" y="1460500"/>
            <a:ext cx="3492500" cy="4953000"/>
          </a:xfrm>
          <a:prstGeom prst="roundRect">
            <a:avLst/>
          </a:prstGeom>
          <a:solidFill>
            <a:srgbClr val="1E293B"/>
          </a:solidFill>
          <a:ln w="1905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кругленный прямоугольник 17"/>
          <p:cNvSpPr/>
          <p:nvPr/>
        </p:nvSpPr>
        <p:spPr>
          <a:xfrm>
            <a:off x="8318500" y="1625600"/>
            <a:ext cx="3111500" cy="2794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4D399"/>
                </a:solidFill>
                <a:latin typeface="Segoe UI" panose="020B0502040204020203" pitchFamily="34" charset="0"/>
              </a:rPr>
              <a:t>INCLUSION &amp; KINDNESS</a:t>
            </a:r>
            <a:endParaRPr lang="ru-RU" sz="900" b="1">
              <a:solidFill>
                <a:srgbClr val="34D399"/>
              </a:solidFill>
              <a:latin typeface="Segoe UI" panose="020B0502040204020203" pitchFamily="34" charset="0"/>
            </a:endParaRPr>
          </a:p>
        </p:txBody>
      </p:sp>
      <p:sp>
        <p:nvSpPr>
          <p:cNvPr id="19" name="TextBox 18"/>
          <p:cNvSpPr txBox="1"/>
          <p:nvPr/>
        </p:nvSpPr>
        <p:spPr>
          <a:xfrm>
            <a:off x="8318500" y="1968500"/>
            <a:ext cx="3111500" cy="292388"/>
          </a:xfrm>
          <a:prstGeom prst="rect">
            <a:avLst/>
          </a:prstGeom>
          <a:noFill/>
        </p:spPr>
        <p:txBody>
          <a:bodyPr vert="horz" rtlCol="0">
            <a:spAutoFit/>
          </a:bodyPr>
          <a:lstStyle/>
          <a:p>
            <a:pPr algn="ctr"/>
            <a:r>
              <a:rPr lang="en-US" sz="1300" b="1" smtClean="0">
                <a:solidFill>
                  <a:srgbClr val="FFFFFF"/>
                </a:solidFill>
                <a:latin typeface="Segoe UI" panose="020B0502040204020203" pitchFamily="34" charset="0"/>
              </a:rPr>
              <a:t>Welcoming Lonely Classmates</a:t>
            </a:r>
            <a:endParaRPr lang="ru-RU" sz="1300" b="1">
              <a:solidFill>
                <a:srgbClr val="FFFFFF"/>
              </a:solidFill>
              <a:latin typeface="Segoe UI" panose="020B0502040204020203" pitchFamily="34" charset="0"/>
            </a:endParaRPr>
          </a:p>
        </p:txBody>
      </p:sp>
      <p:sp>
        <p:nvSpPr>
          <p:cNvPr id="20" name="Скругленный прямоугольник 19"/>
          <p:cNvSpPr/>
          <p:nvPr/>
        </p:nvSpPr>
        <p:spPr>
          <a:xfrm>
            <a:off x="8318500" y="2413000"/>
            <a:ext cx="3111500" cy="952500"/>
          </a:xfrm>
          <a:prstGeom prst="roundRect">
            <a:avLst/>
          </a:prstGeom>
          <a:solidFill>
            <a:srgbClr val="182133"/>
          </a:solidFill>
          <a:ln w="1270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i="1" smtClean="0">
                <a:solidFill>
                  <a:srgbClr val="FFFFFF"/>
                </a:solidFill>
                <a:latin typeface="Segoe UI" panose="020B0502040204020203" pitchFamily="34" charset="0"/>
              </a:rPr>
              <a:t>"You could invite a lonely classmate to join your group and help them feel welcome."</a:t>
            </a:r>
            <a:endParaRPr lang="ru-RU" sz="1050" i="1">
              <a:solidFill>
                <a:srgbClr val="FFFFFF"/>
              </a:solidFill>
              <a:latin typeface="Segoe UI" panose="020B0502040204020203" pitchFamily="34" charset="0"/>
            </a:endParaRPr>
          </a:p>
        </p:txBody>
      </p:sp>
      <p:sp>
        <p:nvSpPr>
          <p:cNvPr id="21" name="TextBox 20"/>
          <p:cNvSpPr txBox="1"/>
          <p:nvPr/>
        </p:nvSpPr>
        <p:spPr>
          <a:xfrm>
            <a:off x="8318500" y="3492500"/>
            <a:ext cx="3111500" cy="1223412"/>
          </a:xfrm>
          <a:prstGeom prst="rect">
            <a:avLst/>
          </a:prstGeom>
          <a:noFill/>
        </p:spPr>
        <p:txBody>
          <a:bodyPr vert="horz" wrap="square" rtlCol="0">
            <a:spAutoFit/>
          </a:bodyPr>
          <a:lstStyle/>
          <a:p>
            <a:r>
              <a:rPr lang="en-US" sz="1050" smtClean="0">
                <a:solidFill>
                  <a:srgbClr val="94A3B8"/>
                </a:solidFill>
                <a:latin typeface="Segoe UI" panose="020B0502040204020203" pitchFamily="34" charset="0"/>
              </a:rPr>
              <a:t>No one deserves to feel left out or eat lunch in isolation. A simple friendly invitation can transform someoneвЂ™s school life and create lasting bonds.</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Grammar: Modal Verb "could" for polite suggestions</a:t>
            </a:r>
            <a:endParaRPr lang="ru-RU" sz="1050">
              <a:solidFill>
                <a:srgbClr val="94A3B8"/>
              </a:solidFill>
              <a:latin typeface="Segoe UI" panose="020B0502040204020203" pitchFamily="34" charset="0"/>
            </a:endParaRPr>
          </a:p>
        </p:txBody>
      </p:sp>
    </p:spTree>
    <p:extLst>
      <p:ext uri="{BB962C8B-B14F-4D97-AF65-F5344CB8AC3E}">
        <p14:creationId xmlns:p14="http://schemas.microsoft.com/office/powerpoint/2010/main" val="118571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04</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Campaign Speech (4 Speakers)</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Balanced oral presentation delivery plan for all four group members</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5334000" cy="2286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25500" y="1587500"/>
            <a:ext cx="4953000" cy="253916"/>
          </a:xfrm>
          <a:prstGeom prst="rect">
            <a:avLst/>
          </a:prstGeom>
          <a:noFill/>
        </p:spPr>
        <p:txBody>
          <a:bodyPr vert="horz" rtlCol="0">
            <a:spAutoFit/>
          </a:bodyPr>
          <a:lstStyle/>
          <a:p>
            <a:r>
              <a:rPr lang="en-US" sz="1050" b="1" smtClean="0">
                <a:solidFill>
                  <a:srgbClr val="38BDF8"/>
                </a:solidFill>
                <a:latin typeface="Segoe UI" panose="020B0502040204020203" pitchFamily="34" charset="0"/>
              </a:rPr>
              <a:t>SPEAKER 1 - INTRODUCTION  *  Campaign Leader &amp; Slogan</a:t>
            </a:r>
            <a:endParaRPr lang="ru-RU" sz="1050" b="1">
              <a:solidFill>
                <a:srgbClr val="38BDF8"/>
              </a:solidFill>
              <a:latin typeface="Segoe UI" panose="020B0502040204020203" pitchFamily="34" charset="0"/>
            </a:endParaRPr>
          </a:p>
        </p:txBody>
      </p:sp>
      <p:sp>
        <p:nvSpPr>
          <p:cNvPr id="9" name="TextBox 8"/>
          <p:cNvSpPr txBox="1"/>
          <p:nvPr/>
        </p:nvSpPr>
        <p:spPr>
          <a:xfrm>
            <a:off x="825500" y="1917700"/>
            <a:ext cx="4953000" cy="769441"/>
          </a:xfrm>
          <a:prstGeom prst="rect">
            <a:avLst/>
          </a:prstGeom>
          <a:noFill/>
        </p:spPr>
        <p:txBody>
          <a:bodyPr vert="horz" wrap="square" rtlCol="0">
            <a:spAutoFit/>
          </a:bodyPr>
          <a:lstStyle/>
          <a:p>
            <a:r>
              <a:rPr lang="en-US" sz="1100" smtClean="0">
                <a:solidFill>
                  <a:srgbClr val="FFFFFF"/>
                </a:solidFill>
                <a:latin typeface="Segoe UI" panose="020B0502040204020203" pitchFamily="34" charset="0"/>
              </a:rPr>
              <a:t>"Good morning, everyone! Today, we are presenting our campaign, Be a Better Friend! Friendship makes our lives happier and our challenges easier. However, strong friendships need time, trust, and effort. Our slogan is: Be the friend you wish to have!"</a:t>
            </a:r>
            <a:endParaRPr lang="ru-RU" sz="1100">
              <a:solidFill>
                <a:srgbClr val="FFFFFF"/>
              </a:solidFill>
              <a:latin typeface="Segoe UI" panose="020B0502040204020203" pitchFamily="34" charset="0"/>
            </a:endParaRPr>
          </a:p>
        </p:txBody>
      </p:sp>
      <p:sp>
        <p:nvSpPr>
          <p:cNvPr id="10" name="Скругленный прямоугольник 9"/>
          <p:cNvSpPr/>
          <p:nvPr/>
        </p:nvSpPr>
        <p:spPr>
          <a:xfrm>
            <a:off x="6223000" y="1460500"/>
            <a:ext cx="5334000" cy="2286000"/>
          </a:xfrm>
          <a:prstGeom prst="roundRect">
            <a:avLst/>
          </a:prstGeom>
          <a:solidFill>
            <a:srgbClr val="1E293B"/>
          </a:solidFill>
          <a:ln w="1524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6413500" y="1587500"/>
            <a:ext cx="4953000" cy="253916"/>
          </a:xfrm>
          <a:prstGeom prst="rect">
            <a:avLst/>
          </a:prstGeom>
          <a:noFill/>
        </p:spPr>
        <p:txBody>
          <a:bodyPr vert="horz" rtlCol="0">
            <a:spAutoFit/>
          </a:bodyPr>
          <a:lstStyle/>
          <a:p>
            <a:r>
              <a:rPr lang="en-US" sz="1050" b="1" smtClean="0">
                <a:solidFill>
                  <a:srgbClr val="F59E0B"/>
                </a:solidFill>
                <a:latin typeface="Segoe UI" panose="020B0502040204020203" pitchFamily="34" charset="0"/>
              </a:rPr>
              <a:t>SPEAKER 2 - THE FIVE RULES  *  Rules Specialist &amp; Core Values</a:t>
            </a:r>
            <a:endParaRPr lang="ru-RU" sz="1050" b="1">
              <a:solidFill>
                <a:srgbClr val="F59E0B"/>
              </a:solidFill>
              <a:latin typeface="Segoe UI" panose="020B0502040204020203" pitchFamily="34" charset="0"/>
            </a:endParaRPr>
          </a:p>
        </p:txBody>
      </p:sp>
      <p:sp>
        <p:nvSpPr>
          <p:cNvPr id="12" name="TextBox 11"/>
          <p:cNvSpPr txBox="1"/>
          <p:nvPr/>
        </p:nvSpPr>
        <p:spPr>
          <a:xfrm>
            <a:off x="6413500" y="1917700"/>
            <a:ext cx="4953000" cy="769441"/>
          </a:xfrm>
          <a:prstGeom prst="rect">
            <a:avLst/>
          </a:prstGeom>
          <a:noFill/>
        </p:spPr>
        <p:txBody>
          <a:bodyPr vert="horz" wrap="square" rtlCol="0">
            <a:spAutoFit/>
          </a:bodyPr>
          <a:lstStyle/>
          <a:p>
            <a:r>
              <a:rPr lang="en-US" sz="1100" smtClean="0">
                <a:solidFill>
                  <a:srgbClr val="FFFFFF"/>
                </a:solidFill>
                <a:latin typeface="Segoe UI" panose="020B0502040204020203" pitchFamily="34" charset="0"/>
              </a:rPr>
              <a:t>"A good friend listens carefully, tells the truth, shows respect, offers support, and solves problems calmly. For example, listening is better than interrupting, and honest communication is stronger than gossip. We should respect our friends even when we have different opinions."</a:t>
            </a:r>
            <a:endParaRPr lang="ru-RU" sz="1100">
              <a:solidFill>
                <a:srgbClr val="FFFFFF"/>
              </a:solidFill>
              <a:latin typeface="Segoe UI" panose="020B0502040204020203" pitchFamily="34" charset="0"/>
            </a:endParaRPr>
          </a:p>
        </p:txBody>
      </p:sp>
      <p:sp>
        <p:nvSpPr>
          <p:cNvPr id="13" name="Скругленный прямоугольник 12"/>
          <p:cNvSpPr/>
          <p:nvPr/>
        </p:nvSpPr>
        <p:spPr>
          <a:xfrm>
            <a:off x="635000" y="3937000"/>
            <a:ext cx="5334000" cy="2286000"/>
          </a:xfrm>
          <a:prstGeom prst="roundRect">
            <a:avLst/>
          </a:prstGeom>
          <a:solidFill>
            <a:srgbClr val="1E293B"/>
          </a:solidFill>
          <a:ln w="1524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825500" y="4064000"/>
            <a:ext cx="4953000" cy="253916"/>
          </a:xfrm>
          <a:prstGeom prst="rect">
            <a:avLst/>
          </a:prstGeom>
          <a:noFill/>
        </p:spPr>
        <p:txBody>
          <a:bodyPr vert="horz" rtlCol="0">
            <a:spAutoFit/>
          </a:bodyPr>
          <a:lstStyle/>
          <a:p>
            <a:r>
              <a:rPr lang="en-US" sz="1050" b="1" smtClean="0">
                <a:solidFill>
                  <a:srgbClr val="34D399"/>
                </a:solidFill>
                <a:latin typeface="Segoe UI" panose="020B0502040204020203" pitchFamily="34" charset="0"/>
              </a:rPr>
              <a:t>SPEAKER 3 - ADVICE &amp; GRAMMAR  *  Language Specialist &amp; Tips</a:t>
            </a:r>
            <a:endParaRPr lang="ru-RU" sz="1050" b="1">
              <a:solidFill>
                <a:srgbClr val="34D399"/>
              </a:solidFill>
              <a:latin typeface="Segoe UI" panose="020B0502040204020203" pitchFamily="34" charset="0"/>
            </a:endParaRPr>
          </a:p>
        </p:txBody>
      </p:sp>
      <p:sp>
        <p:nvSpPr>
          <p:cNvPr id="15" name="TextBox 14"/>
          <p:cNvSpPr txBox="1"/>
          <p:nvPr/>
        </p:nvSpPr>
        <p:spPr>
          <a:xfrm>
            <a:off x="825500" y="4394200"/>
            <a:ext cx="4953000" cy="769441"/>
          </a:xfrm>
          <a:prstGeom prst="rect">
            <a:avLst/>
          </a:prstGeom>
          <a:noFill/>
        </p:spPr>
        <p:txBody>
          <a:bodyPr vert="horz" wrap="square" rtlCol="0">
            <a:spAutoFit/>
          </a:bodyPr>
          <a:lstStyle/>
          <a:p>
            <a:r>
              <a:rPr lang="en-US" sz="1100" smtClean="0">
                <a:solidFill>
                  <a:srgbClr val="FFFFFF"/>
                </a:solidFill>
                <a:latin typeface="Segoe UI" panose="020B0502040204020203" pitchFamily="34" charset="0"/>
              </a:rPr>
              <a:t>"Here are three simple tips. If your friend feels sad, listen without judging. You should speak honestly and never spread rumours. You could also invite someone who feels left out to join you. If we support one another, our classroom will become a kinder place."</a:t>
            </a:r>
            <a:endParaRPr lang="ru-RU" sz="1100">
              <a:solidFill>
                <a:srgbClr val="FFFFFF"/>
              </a:solidFill>
              <a:latin typeface="Segoe UI" panose="020B0502040204020203" pitchFamily="34" charset="0"/>
            </a:endParaRPr>
          </a:p>
        </p:txBody>
      </p:sp>
      <p:sp>
        <p:nvSpPr>
          <p:cNvPr id="16" name="Скругленный прямоугольник 15"/>
          <p:cNvSpPr/>
          <p:nvPr/>
        </p:nvSpPr>
        <p:spPr>
          <a:xfrm>
            <a:off x="6223000" y="3937000"/>
            <a:ext cx="5334000" cy="2286000"/>
          </a:xfrm>
          <a:prstGeom prst="roundRect">
            <a:avLst/>
          </a:prstGeom>
          <a:solidFill>
            <a:srgbClr val="1E293B"/>
          </a:solidFill>
          <a:ln w="1524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6413500" y="4064000"/>
            <a:ext cx="4953000" cy="253916"/>
          </a:xfrm>
          <a:prstGeom prst="rect">
            <a:avLst/>
          </a:prstGeom>
          <a:noFill/>
        </p:spPr>
        <p:txBody>
          <a:bodyPr vert="horz" rtlCol="0">
            <a:spAutoFit/>
          </a:bodyPr>
          <a:lstStyle/>
          <a:p>
            <a:r>
              <a:rPr lang="en-US" sz="1050" b="1" smtClean="0">
                <a:solidFill>
                  <a:srgbClr val="C084FC"/>
                </a:solidFill>
                <a:latin typeface="Segoe UI" panose="020B0502040204020203" pitchFamily="34" charset="0"/>
              </a:rPr>
              <a:t>SPEAKER 4 - CALL TO ACTION  *  Conclusion &amp; Challenge Leader</a:t>
            </a:r>
            <a:endParaRPr lang="ru-RU" sz="1050" b="1">
              <a:solidFill>
                <a:srgbClr val="C084FC"/>
              </a:solidFill>
              <a:latin typeface="Segoe UI" panose="020B0502040204020203" pitchFamily="34" charset="0"/>
            </a:endParaRPr>
          </a:p>
        </p:txBody>
      </p:sp>
      <p:sp>
        <p:nvSpPr>
          <p:cNvPr id="18" name="TextBox 17"/>
          <p:cNvSpPr txBox="1"/>
          <p:nvPr/>
        </p:nvSpPr>
        <p:spPr>
          <a:xfrm>
            <a:off x="6413500" y="4394200"/>
            <a:ext cx="4953000" cy="769441"/>
          </a:xfrm>
          <a:prstGeom prst="rect">
            <a:avLst/>
          </a:prstGeom>
          <a:noFill/>
        </p:spPr>
        <p:txBody>
          <a:bodyPr vert="horz" wrap="square" rtlCol="0">
            <a:spAutoFit/>
          </a:bodyPr>
          <a:lstStyle/>
          <a:p>
            <a:r>
              <a:rPr lang="en-US" sz="1100" smtClean="0">
                <a:solidFill>
                  <a:srgbClr val="FFFFFF"/>
                </a:solidFill>
                <a:latin typeface="Segoe UI" panose="020B0502040204020203" pitchFamily="34" charset="0"/>
              </a:rPr>
              <a:t>"Let us take a friendship challenge! This week, do one kind thing every day: help someone, give a sincere compliment, or include a classmate in an activity. Small actions create stronger friendships. Remember, a real friend does not have to solve every problem; sometimes, being present is enough."</a:t>
            </a:r>
            <a:endParaRPr lang="ru-RU" sz="1100">
              <a:solidFill>
                <a:srgbClr val="FFFFFF"/>
              </a:solidFill>
              <a:latin typeface="Segoe UI" panose="020B0502040204020203" pitchFamily="34" charset="0"/>
            </a:endParaRPr>
          </a:p>
        </p:txBody>
      </p:sp>
    </p:spTree>
    <p:extLst>
      <p:ext uri="{BB962C8B-B14F-4D97-AF65-F5344CB8AC3E}">
        <p14:creationId xmlns:p14="http://schemas.microsoft.com/office/powerpoint/2010/main" val="141144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05</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Language Features &amp; Grammar Focus</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Key grammatical structures required by Grade 11 BSB-1 evaluation criteria</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5334000" cy="2286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25500" y="1587500"/>
            <a:ext cx="4953000" cy="1100301"/>
          </a:xfrm>
          <a:prstGeom prst="rect">
            <a:avLst/>
          </a:prstGeom>
          <a:noFill/>
        </p:spPr>
        <p:txBody>
          <a:bodyPr vert="horz" wrap="square" rtlCol="0">
            <a:spAutoFit/>
          </a:bodyPr>
          <a:lstStyle/>
          <a:p>
            <a:r>
              <a:rPr lang="en-US" sz="1300" b="1" smtClean="0">
                <a:solidFill>
                  <a:srgbClr val="38BDF8"/>
                </a:solidFill>
                <a:latin typeface="Segoe UI" panose="020B0502040204020203" pitchFamily="34" charset="0"/>
              </a:rPr>
              <a:t>COMPARATIVES</a:t>
            </a:r>
          </a:p>
          <a:p>
            <a:r>
              <a:rPr lang="en-US" sz="1000" smtClean="0">
                <a:solidFill>
                  <a:srgbClr val="FFFFFF"/>
                </a:solidFill>
                <a:latin typeface="Segoe UI" panose="020B0502040204020203" pitchFamily="34" charset="0"/>
              </a:rPr>
              <a:t>Comparing actions and values (better than, stronger than, bigger)</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"Listening is better than interrupting."</a:t>
            </a:r>
          </a:p>
          <a:p>
            <a:r>
              <a:rPr lang="en-US" sz="1050" smtClean="0">
                <a:solidFill>
                  <a:srgbClr val="94A3B8"/>
                </a:solidFill>
                <a:latin typeface="Segoe UI" panose="020B0502040204020203" pitchFamily="34" charset="0"/>
              </a:rPr>
              <a:t>* "Honest communication is stronger than gossip."</a:t>
            </a:r>
          </a:p>
          <a:p>
            <a:r>
              <a:rPr lang="en-US" sz="1050" smtClean="0">
                <a:solidFill>
                  <a:srgbClr val="94A3B8"/>
                </a:solidFill>
                <a:latin typeface="Segoe UI" panose="020B0502040204020203" pitchFamily="34" charset="0"/>
              </a:rPr>
              <a:t>* "We can make a bigger difference together than alone."</a:t>
            </a:r>
            <a:endParaRPr lang="ru-RU" sz="1050">
              <a:solidFill>
                <a:srgbClr val="94A3B8"/>
              </a:solidFill>
              <a:latin typeface="Segoe UI" panose="020B0502040204020203" pitchFamily="34" charset="0"/>
            </a:endParaRPr>
          </a:p>
        </p:txBody>
      </p:sp>
      <p:sp>
        <p:nvSpPr>
          <p:cNvPr id="9" name="Скругленный прямоугольник 8"/>
          <p:cNvSpPr/>
          <p:nvPr/>
        </p:nvSpPr>
        <p:spPr>
          <a:xfrm>
            <a:off x="6223000" y="1460500"/>
            <a:ext cx="5334000" cy="2286000"/>
          </a:xfrm>
          <a:prstGeom prst="roundRect">
            <a:avLst/>
          </a:prstGeom>
          <a:solidFill>
            <a:srgbClr val="1E293B"/>
          </a:solidFill>
          <a:ln w="1524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6413500" y="1587500"/>
            <a:ext cx="4953000" cy="1100301"/>
          </a:xfrm>
          <a:prstGeom prst="rect">
            <a:avLst/>
          </a:prstGeom>
          <a:noFill/>
        </p:spPr>
        <p:txBody>
          <a:bodyPr vert="horz" wrap="square" rtlCol="0">
            <a:spAutoFit/>
          </a:bodyPr>
          <a:lstStyle/>
          <a:p>
            <a:r>
              <a:rPr lang="en-US" sz="1300" b="1" smtClean="0">
                <a:solidFill>
                  <a:srgbClr val="F59E0B"/>
                </a:solidFill>
                <a:latin typeface="Segoe UI" panose="020B0502040204020203" pitchFamily="34" charset="0"/>
              </a:rPr>
              <a:t>MODAL VERBS</a:t>
            </a:r>
          </a:p>
          <a:p>
            <a:r>
              <a:rPr lang="en-US" sz="1000" smtClean="0">
                <a:solidFill>
                  <a:srgbClr val="FFFFFF"/>
                </a:solidFill>
                <a:latin typeface="Segoe UI" panose="020B0502040204020203" pitchFamily="34" charset="0"/>
              </a:rPr>
              <a:t>Expressing advice, polite suggestion, and necessity</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"You should speak honestly instead of spreading rumours."</a:t>
            </a:r>
          </a:p>
          <a:p>
            <a:r>
              <a:rPr lang="en-US" sz="1050" smtClean="0">
                <a:solidFill>
                  <a:srgbClr val="94A3B8"/>
                </a:solidFill>
                <a:latin typeface="Segoe UI" panose="020B0502040204020203" pitchFamily="34" charset="0"/>
              </a:rPr>
              <a:t>* "You could invite a lonely classmate to join your group."</a:t>
            </a:r>
          </a:p>
          <a:p>
            <a:r>
              <a:rPr lang="en-US" sz="1050" smtClean="0">
                <a:solidFill>
                  <a:srgbClr val="94A3B8"/>
                </a:solidFill>
                <a:latin typeface="Segoe UI" panose="020B0502040204020203" pitchFamily="34" charset="0"/>
              </a:rPr>
              <a:t>* "A real friend does not have to solve every single problem."</a:t>
            </a:r>
            <a:endParaRPr lang="ru-RU" sz="1050">
              <a:solidFill>
                <a:srgbClr val="94A3B8"/>
              </a:solidFill>
              <a:latin typeface="Segoe UI" panose="020B0502040204020203" pitchFamily="34" charset="0"/>
            </a:endParaRPr>
          </a:p>
        </p:txBody>
      </p:sp>
      <p:sp>
        <p:nvSpPr>
          <p:cNvPr id="11" name="Скругленный прямоугольник 10"/>
          <p:cNvSpPr/>
          <p:nvPr/>
        </p:nvSpPr>
        <p:spPr>
          <a:xfrm>
            <a:off x="635000" y="3937000"/>
            <a:ext cx="5334000" cy="2286000"/>
          </a:xfrm>
          <a:prstGeom prst="roundRect">
            <a:avLst/>
          </a:prstGeom>
          <a:solidFill>
            <a:srgbClr val="1E293B"/>
          </a:solidFill>
          <a:ln w="1524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p:cNvSpPr txBox="1"/>
          <p:nvPr/>
        </p:nvSpPr>
        <p:spPr>
          <a:xfrm>
            <a:off x="825500" y="4064000"/>
            <a:ext cx="4953000" cy="1100301"/>
          </a:xfrm>
          <a:prstGeom prst="rect">
            <a:avLst/>
          </a:prstGeom>
          <a:noFill/>
        </p:spPr>
        <p:txBody>
          <a:bodyPr vert="horz" wrap="square" rtlCol="0">
            <a:spAutoFit/>
          </a:bodyPr>
          <a:lstStyle/>
          <a:p>
            <a:r>
              <a:rPr lang="en-US" sz="1300" b="1" smtClean="0">
                <a:solidFill>
                  <a:srgbClr val="34D399"/>
                </a:solidFill>
                <a:latin typeface="Segoe UI" panose="020B0502040204020203" pitchFamily="34" charset="0"/>
              </a:rPr>
              <a:t>CONDITIONALS</a:t>
            </a:r>
          </a:p>
          <a:p>
            <a:r>
              <a:rPr lang="en-US" sz="1000" smtClean="0">
                <a:solidFill>
                  <a:srgbClr val="FFFFFF"/>
                </a:solidFill>
                <a:latin typeface="Segoe UI" panose="020B0502040204020203" pitchFamily="34" charset="0"/>
              </a:rPr>
              <a:t>Zero &amp; First Conditionals for cause, consequence, and advice</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"If your friend feels sad, listen without judging."</a:t>
            </a:r>
          </a:p>
          <a:p>
            <a:r>
              <a:rPr lang="en-US" sz="1050" smtClean="0">
                <a:solidFill>
                  <a:srgbClr val="94A3B8"/>
                </a:solidFill>
                <a:latin typeface="Segoe UI" panose="020B0502040204020203" pitchFamily="34" charset="0"/>
              </a:rPr>
              <a:t>* "If we support one another, our classroom will become a kinder place."</a:t>
            </a:r>
          </a:p>
          <a:p>
            <a:r>
              <a:rPr lang="en-US" sz="1050" smtClean="0">
                <a:solidFill>
                  <a:srgbClr val="94A3B8"/>
                </a:solidFill>
                <a:latin typeface="Segoe UI" panose="020B0502040204020203" pitchFamily="34" charset="0"/>
              </a:rPr>
              <a:t>* "If both communicate honestly, friendship can become stronger."</a:t>
            </a:r>
            <a:endParaRPr lang="ru-RU" sz="1050">
              <a:solidFill>
                <a:srgbClr val="94A3B8"/>
              </a:solidFill>
              <a:latin typeface="Segoe UI" panose="020B0502040204020203" pitchFamily="34" charset="0"/>
            </a:endParaRPr>
          </a:p>
        </p:txBody>
      </p:sp>
      <p:sp>
        <p:nvSpPr>
          <p:cNvPr id="13" name="Скругленный прямоугольник 12"/>
          <p:cNvSpPr/>
          <p:nvPr/>
        </p:nvSpPr>
        <p:spPr>
          <a:xfrm>
            <a:off x="6223000" y="3937000"/>
            <a:ext cx="5334000" cy="2286000"/>
          </a:xfrm>
          <a:prstGeom prst="roundRect">
            <a:avLst/>
          </a:prstGeom>
          <a:solidFill>
            <a:srgbClr val="1E293B"/>
          </a:solidFill>
          <a:ln w="1524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6413500" y="4064000"/>
            <a:ext cx="4953000" cy="1100301"/>
          </a:xfrm>
          <a:prstGeom prst="rect">
            <a:avLst/>
          </a:prstGeom>
          <a:noFill/>
        </p:spPr>
        <p:txBody>
          <a:bodyPr vert="horz" wrap="square" rtlCol="0">
            <a:spAutoFit/>
          </a:bodyPr>
          <a:lstStyle/>
          <a:p>
            <a:r>
              <a:rPr lang="en-US" sz="1300" b="1" smtClean="0">
                <a:solidFill>
                  <a:srgbClr val="C084FC"/>
                </a:solidFill>
                <a:latin typeface="Segoe UI" panose="020B0502040204020203" pitchFamily="34" charset="0"/>
              </a:rPr>
              <a:t>LINKING WORDS</a:t>
            </a:r>
          </a:p>
          <a:p>
            <a:r>
              <a:rPr lang="en-US" sz="1000" smtClean="0">
                <a:solidFill>
                  <a:srgbClr val="FFFFFF"/>
                </a:solidFill>
                <a:latin typeface="Segoe UI" panose="020B0502040204020203" pitchFamily="34" charset="0"/>
              </a:rPr>
              <a:t>Cohesion and logical transitions in discourse</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Contrast: however, instead of, even when</a:t>
            </a:r>
          </a:p>
          <a:p>
            <a:r>
              <a:rPr lang="en-US" sz="1050" smtClean="0">
                <a:solidFill>
                  <a:srgbClr val="94A3B8"/>
                </a:solidFill>
                <a:latin typeface="Segoe UI" panose="020B0502040204020203" pitchFamily="34" charset="0"/>
              </a:rPr>
              <a:t>* Exemplification: for example, such as</a:t>
            </a:r>
          </a:p>
          <a:p>
            <a:r>
              <a:rPr lang="en-US" sz="1050" smtClean="0">
                <a:solidFill>
                  <a:srgbClr val="94A3B8"/>
                </a:solidFill>
                <a:latin typeface="Segoe UI" panose="020B0502040204020203" pitchFamily="34" charset="0"/>
              </a:rPr>
              <a:t>* Cause &amp; Sequence: because, also, together, finally</a:t>
            </a:r>
            <a:endParaRPr lang="ru-RU" sz="1050">
              <a:solidFill>
                <a:srgbClr val="94A3B8"/>
              </a:solidFill>
              <a:latin typeface="Segoe UI" panose="020B0502040204020203" pitchFamily="34" charset="0"/>
            </a:endParaRPr>
          </a:p>
        </p:txBody>
      </p:sp>
    </p:spTree>
    <p:extLst>
      <p:ext uri="{BB962C8B-B14F-4D97-AF65-F5344CB8AC3E}">
        <p14:creationId xmlns:p14="http://schemas.microsoft.com/office/powerpoint/2010/main" val="405996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06</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Interactive Activity: The Friendship Challenge</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Engaging classmates and creating real behavioral change in the classroom</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10922000" cy="1333500"/>
          </a:xfrm>
          <a:prstGeom prst="roundRect">
            <a:avLst/>
          </a:prstGeom>
          <a:solidFill>
            <a:srgbClr val="1E3A8A"/>
          </a:solidFill>
          <a:ln w="2540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89000" y="1549400"/>
            <a:ext cx="10414000" cy="261610"/>
          </a:xfrm>
          <a:prstGeom prst="rect">
            <a:avLst/>
          </a:prstGeom>
          <a:noFill/>
        </p:spPr>
        <p:txBody>
          <a:bodyPr vert="horz" rtlCol="0">
            <a:spAutoFit/>
          </a:bodyPr>
          <a:lstStyle/>
          <a:p>
            <a:r>
              <a:rPr lang="en-US" sz="1100" b="1" smtClean="0">
                <a:solidFill>
                  <a:srgbClr val="F59E0B"/>
                </a:solidFill>
                <a:latin typeface="Segoe UI" panose="020B0502040204020203" pitchFamily="34" charset="0"/>
              </a:rPr>
              <a:t>INTERACTIVE QUESTION FOR THE AUDIENCE:</a:t>
            </a:r>
            <a:endParaRPr lang="ru-RU" sz="1100" b="1">
              <a:solidFill>
                <a:srgbClr val="F59E0B"/>
              </a:solidFill>
              <a:latin typeface="Segoe UI" panose="020B0502040204020203" pitchFamily="34" charset="0"/>
            </a:endParaRPr>
          </a:p>
        </p:txBody>
      </p:sp>
      <p:sp>
        <p:nvSpPr>
          <p:cNvPr id="9" name="TextBox 8"/>
          <p:cNvSpPr txBox="1"/>
          <p:nvPr/>
        </p:nvSpPr>
        <p:spPr>
          <a:xfrm>
            <a:off x="889000" y="1803400"/>
            <a:ext cx="10414000" cy="400110"/>
          </a:xfrm>
          <a:prstGeom prst="rect">
            <a:avLst/>
          </a:prstGeom>
          <a:noFill/>
        </p:spPr>
        <p:txBody>
          <a:bodyPr vert="horz" rtlCol="0">
            <a:spAutoFit/>
          </a:bodyPr>
          <a:lstStyle/>
          <a:p>
            <a:r>
              <a:rPr lang="en-US" sz="2000" b="1" smtClean="0">
                <a:solidFill>
                  <a:srgbClr val="FFFFFF"/>
                </a:solidFill>
                <a:latin typeface="Segoe UI" panose="020B0502040204020203" pitchFamily="34" charset="0"/>
              </a:rPr>
              <a:t>"What is one small thing you can do today to be a better friend?"</a:t>
            </a:r>
            <a:endParaRPr lang="ru-RU" sz="2000" b="1">
              <a:solidFill>
                <a:srgbClr val="FFFFFF"/>
              </a:solidFill>
              <a:latin typeface="Segoe UI" panose="020B0502040204020203" pitchFamily="34" charset="0"/>
            </a:endParaRPr>
          </a:p>
        </p:txBody>
      </p:sp>
      <p:sp>
        <p:nvSpPr>
          <p:cNvPr id="10" name="Скругленный прямоугольник 9"/>
          <p:cNvSpPr/>
          <p:nvPr/>
        </p:nvSpPr>
        <p:spPr>
          <a:xfrm>
            <a:off x="635000" y="2984500"/>
            <a:ext cx="2540000" cy="2794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Скругленный прямоугольник 10"/>
          <p:cNvSpPr/>
          <p:nvPr/>
        </p:nvSpPr>
        <p:spPr>
          <a:xfrm>
            <a:off x="825500" y="3111500"/>
            <a:ext cx="2159000" cy="3048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smtClean="0">
                <a:solidFill>
                  <a:srgbClr val="38BDF8"/>
                </a:solidFill>
                <a:latin typeface="Segoe UI" panose="020B0502040204020203" pitchFamily="34" charset="0"/>
              </a:rPr>
              <a:t>Day 1 - 2</a:t>
            </a:r>
            <a:endParaRPr lang="ru-RU" sz="1000" b="1">
              <a:solidFill>
                <a:srgbClr val="38BDF8"/>
              </a:solidFill>
              <a:latin typeface="Segoe UI" panose="020B0502040204020203" pitchFamily="34" charset="0"/>
            </a:endParaRPr>
          </a:p>
        </p:txBody>
      </p:sp>
      <p:sp>
        <p:nvSpPr>
          <p:cNvPr id="12" name="TextBox 11"/>
          <p:cNvSpPr txBox="1"/>
          <p:nvPr/>
        </p:nvSpPr>
        <p:spPr>
          <a:xfrm>
            <a:off x="762000" y="3492500"/>
            <a:ext cx="2286000" cy="800219"/>
          </a:xfrm>
          <a:prstGeom prst="rect">
            <a:avLst/>
          </a:prstGeom>
          <a:noFill/>
        </p:spPr>
        <p:txBody>
          <a:bodyPr vert="horz" wrap="square" rtlCol="0">
            <a:spAutoFit/>
          </a:bodyPr>
          <a:lstStyle/>
          <a:p>
            <a:pPr algn="ctr"/>
            <a:r>
              <a:rPr lang="en-US" sz="1300" b="1" smtClean="0">
                <a:solidFill>
                  <a:srgbClr val="FFFFFF"/>
                </a:solidFill>
                <a:latin typeface="Segoe UI" panose="020B0502040204020203" pitchFamily="34" charset="0"/>
              </a:rPr>
              <a:t>Sincere Compliment</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Give a genuine compliment to a classmate you rarely talk to.</a:t>
            </a:r>
            <a:endParaRPr lang="ru-RU" sz="1100">
              <a:solidFill>
                <a:srgbClr val="94A3B8"/>
              </a:solidFill>
              <a:latin typeface="Segoe UI" panose="020B0502040204020203" pitchFamily="34" charset="0"/>
            </a:endParaRPr>
          </a:p>
        </p:txBody>
      </p:sp>
      <p:sp>
        <p:nvSpPr>
          <p:cNvPr id="13" name="Скругленный прямоугольник 12"/>
          <p:cNvSpPr/>
          <p:nvPr/>
        </p:nvSpPr>
        <p:spPr>
          <a:xfrm>
            <a:off x="3429000" y="2984500"/>
            <a:ext cx="2540000" cy="2794000"/>
          </a:xfrm>
          <a:prstGeom prst="roundRect">
            <a:avLst/>
          </a:prstGeom>
          <a:solidFill>
            <a:srgbClr val="1E293B"/>
          </a:solidFill>
          <a:ln w="1524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Скругленный прямоугольник 13"/>
          <p:cNvSpPr/>
          <p:nvPr/>
        </p:nvSpPr>
        <p:spPr>
          <a:xfrm>
            <a:off x="3619500" y="3111500"/>
            <a:ext cx="2159000" cy="3048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smtClean="0">
                <a:solidFill>
                  <a:srgbClr val="F59E0B"/>
                </a:solidFill>
                <a:latin typeface="Segoe UI" panose="020B0502040204020203" pitchFamily="34" charset="0"/>
              </a:rPr>
              <a:t>Day 3 - 4</a:t>
            </a:r>
            <a:endParaRPr lang="ru-RU" sz="1000" b="1">
              <a:solidFill>
                <a:srgbClr val="F59E0B"/>
              </a:solidFill>
              <a:latin typeface="Segoe UI" panose="020B0502040204020203" pitchFamily="34" charset="0"/>
            </a:endParaRPr>
          </a:p>
        </p:txBody>
      </p:sp>
      <p:sp>
        <p:nvSpPr>
          <p:cNvPr id="15" name="TextBox 14"/>
          <p:cNvSpPr txBox="1"/>
          <p:nvPr/>
        </p:nvSpPr>
        <p:spPr>
          <a:xfrm>
            <a:off x="3556000" y="3492500"/>
            <a:ext cx="2286000" cy="969496"/>
          </a:xfrm>
          <a:prstGeom prst="rect">
            <a:avLst/>
          </a:prstGeom>
          <a:noFill/>
        </p:spPr>
        <p:txBody>
          <a:bodyPr vert="horz" wrap="square" rtlCol="0">
            <a:spAutoFit/>
          </a:bodyPr>
          <a:lstStyle/>
          <a:p>
            <a:pPr algn="ctr"/>
            <a:r>
              <a:rPr lang="en-US" sz="1300" b="1" smtClean="0">
                <a:solidFill>
                  <a:srgbClr val="FFFFFF"/>
                </a:solidFill>
                <a:latin typeface="Segoe UI" panose="020B0502040204020203" pitchFamily="34" charset="0"/>
              </a:rPr>
              <a:t>Help &amp; Support</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Offer help with homework, carry books, or share learning materials.</a:t>
            </a:r>
            <a:endParaRPr lang="ru-RU" sz="1100">
              <a:solidFill>
                <a:srgbClr val="94A3B8"/>
              </a:solidFill>
              <a:latin typeface="Segoe UI" panose="020B0502040204020203" pitchFamily="34" charset="0"/>
            </a:endParaRPr>
          </a:p>
        </p:txBody>
      </p:sp>
      <p:sp>
        <p:nvSpPr>
          <p:cNvPr id="16" name="Скругленный прямоугольник 15"/>
          <p:cNvSpPr/>
          <p:nvPr/>
        </p:nvSpPr>
        <p:spPr>
          <a:xfrm>
            <a:off x="6223000" y="2984500"/>
            <a:ext cx="2540000" cy="2794000"/>
          </a:xfrm>
          <a:prstGeom prst="roundRect">
            <a:avLst/>
          </a:prstGeom>
          <a:solidFill>
            <a:srgbClr val="1E293B"/>
          </a:solidFill>
          <a:ln w="1524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Скругленный прямоугольник 16"/>
          <p:cNvSpPr/>
          <p:nvPr/>
        </p:nvSpPr>
        <p:spPr>
          <a:xfrm>
            <a:off x="6413500" y="3111500"/>
            <a:ext cx="2159000" cy="3048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smtClean="0">
                <a:solidFill>
                  <a:srgbClr val="34D399"/>
                </a:solidFill>
                <a:latin typeface="Segoe UI" panose="020B0502040204020203" pitchFamily="34" charset="0"/>
              </a:rPr>
              <a:t>Day 5 - 6</a:t>
            </a:r>
            <a:endParaRPr lang="ru-RU" sz="1000" b="1">
              <a:solidFill>
                <a:srgbClr val="34D399"/>
              </a:solidFill>
              <a:latin typeface="Segoe UI" panose="020B0502040204020203" pitchFamily="34" charset="0"/>
            </a:endParaRPr>
          </a:p>
        </p:txBody>
      </p:sp>
      <p:sp>
        <p:nvSpPr>
          <p:cNvPr id="18" name="TextBox 17"/>
          <p:cNvSpPr txBox="1"/>
          <p:nvPr/>
        </p:nvSpPr>
        <p:spPr>
          <a:xfrm>
            <a:off x="6350000" y="3492500"/>
            <a:ext cx="2286000" cy="969496"/>
          </a:xfrm>
          <a:prstGeom prst="rect">
            <a:avLst/>
          </a:prstGeom>
          <a:noFill/>
        </p:spPr>
        <p:txBody>
          <a:bodyPr vert="horz" wrap="square" rtlCol="0">
            <a:spAutoFit/>
          </a:bodyPr>
          <a:lstStyle/>
          <a:p>
            <a:pPr algn="ctr"/>
            <a:r>
              <a:rPr lang="en-US" sz="1300" b="1" smtClean="0">
                <a:solidFill>
                  <a:srgbClr val="FFFFFF"/>
                </a:solidFill>
                <a:latin typeface="Segoe UI" panose="020B0502040204020203" pitchFamily="34" charset="0"/>
              </a:rPr>
              <a:t>Include the Lonely</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Invite someone sitting alone to join your lunch table or project group.</a:t>
            </a:r>
            <a:endParaRPr lang="ru-RU" sz="1100">
              <a:solidFill>
                <a:srgbClr val="94A3B8"/>
              </a:solidFill>
              <a:latin typeface="Segoe UI" panose="020B0502040204020203" pitchFamily="34" charset="0"/>
            </a:endParaRPr>
          </a:p>
        </p:txBody>
      </p:sp>
      <p:sp>
        <p:nvSpPr>
          <p:cNvPr id="19" name="Скругленный прямоугольник 18"/>
          <p:cNvSpPr/>
          <p:nvPr/>
        </p:nvSpPr>
        <p:spPr>
          <a:xfrm>
            <a:off x="9017000" y="2984500"/>
            <a:ext cx="2540000" cy="2794000"/>
          </a:xfrm>
          <a:prstGeom prst="roundRect">
            <a:avLst/>
          </a:prstGeom>
          <a:solidFill>
            <a:srgbClr val="1E293B"/>
          </a:solidFill>
          <a:ln w="1524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Скругленный прямоугольник 19"/>
          <p:cNvSpPr/>
          <p:nvPr/>
        </p:nvSpPr>
        <p:spPr>
          <a:xfrm>
            <a:off x="9207500" y="3111500"/>
            <a:ext cx="2159000" cy="304800"/>
          </a:xfrm>
          <a:prstGeom prst="roundRect">
            <a:avLst/>
          </a:prstGeom>
          <a:solidFill>
            <a:srgbClr val="1821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smtClean="0">
                <a:solidFill>
                  <a:srgbClr val="C084FC"/>
                </a:solidFill>
                <a:latin typeface="Segoe UI" panose="020B0502040204020203" pitchFamily="34" charset="0"/>
              </a:rPr>
              <a:t>Day 7</a:t>
            </a:r>
            <a:endParaRPr lang="ru-RU" sz="1000" b="1">
              <a:solidFill>
                <a:srgbClr val="C084FC"/>
              </a:solidFill>
              <a:latin typeface="Segoe UI" panose="020B0502040204020203" pitchFamily="34" charset="0"/>
            </a:endParaRPr>
          </a:p>
        </p:txBody>
      </p:sp>
      <p:sp>
        <p:nvSpPr>
          <p:cNvPr id="21" name="TextBox 20"/>
          <p:cNvSpPr txBox="1"/>
          <p:nvPr/>
        </p:nvSpPr>
        <p:spPr>
          <a:xfrm>
            <a:off x="9144000" y="3492500"/>
            <a:ext cx="2286000" cy="800219"/>
          </a:xfrm>
          <a:prstGeom prst="rect">
            <a:avLst/>
          </a:prstGeom>
          <a:noFill/>
        </p:spPr>
        <p:txBody>
          <a:bodyPr vert="horz" wrap="square" rtlCol="0">
            <a:spAutoFit/>
          </a:bodyPr>
          <a:lstStyle/>
          <a:p>
            <a:pPr algn="ctr"/>
            <a:r>
              <a:rPr lang="en-US" sz="1300" b="1" smtClean="0">
                <a:solidFill>
                  <a:srgbClr val="FFFFFF"/>
                </a:solidFill>
                <a:latin typeface="Segoe UI" panose="020B0502040204020203" pitchFamily="34" charset="0"/>
              </a:rPr>
              <a:t>Gratitude &amp; Peace</a:t>
            </a:r>
          </a:p>
          <a:p>
            <a:pPr algn="ctr"/>
            <a:endParaRPr lang="en-US" sz="1100" smtClean="0">
              <a:solidFill>
                <a:srgbClr val="94A3B8"/>
              </a:solidFill>
              <a:latin typeface="Segoe UI" panose="020B0502040204020203" pitchFamily="34" charset="0"/>
            </a:endParaRPr>
          </a:p>
          <a:p>
            <a:pPr algn="ctr"/>
            <a:r>
              <a:rPr lang="en-US" sz="1100" smtClean="0">
                <a:solidFill>
                  <a:srgbClr val="94A3B8"/>
                </a:solidFill>
                <a:latin typeface="Segoe UI" panose="020B0502040204020203" pitchFamily="34" charset="0"/>
              </a:rPr>
              <a:t>Say thank you to a loyal friend, or apologise calmly after a dispute.</a:t>
            </a:r>
            <a:endParaRPr lang="ru-RU" sz="1100">
              <a:solidFill>
                <a:srgbClr val="94A3B8"/>
              </a:solidFill>
              <a:latin typeface="Segoe UI" panose="020B0502040204020203" pitchFamily="34" charset="0"/>
            </a:endParaRPr>
          </a:p>
        </p:txBody>
      </p:sp>
      <p:sp>
        <p:nvSpPr>
          <p:cNvPr id="22" name="TextBox 21"/>
          <p:cNvSpPr txBox="1"/>
          <p:nvPr/>
        </p:nvSpPr>
        <p:spPr>
          <a:xfrm>
            <a:off x="635000" y="5969000"/>
            <a:ext cx="10922000" cy="261610"/>
          </a:xfrm>
          <a:prstGeom prst="rect">
            <a:avLst/>
          </a:prstGeom>
          <a:noFill/>
        </p:spPr>
        <p:txBody>
          <a:bodyPr vert="horz" rtlCol="0">
            <a:spAutoFit/>
          </a:bodyPr>
          <a:lstStyle/>
          <a:p>
            <a:pPr algn="ctr"/>
            <a:r>
              <a:rPr lang="en-US" sz="1100" i="1" smtClean="0">
                <a:solidFill>
                  <a:srgbClr val="F59E0B"/>
                </a:solidFill>
                <a:latin typeface="Segoe UI" panose="020B0502040204020203" pitchFamily="34" charset="0"/>
              </a:rPr>
              <a:t>* Class Goal: Invite 2-3 students to answer in English, then commit together to the 7-Day Challenge!</a:t>
            </a:r>
            <a:endParaRPr lang="ru-RU" sz="1100" i="1">
              <a:solidFill>
                <a:srgbClr val="F59E0B"/>
              </a:solidFill>
              <a:latin typeface="Segoe UI" panose="020B0502040204020203" pitchFamily="34" charset="0"/>
            </a:endParaRPr>
          </a:p>
        </p:txBody>
      </p:sp>
    </p:spTree>
    <p:extLst>
      <p:ext uri="{BB962C8B-B14F-4D97-AF65-F5344CB8AC3E}">
        <p14:creationId xmlns:p14="http://schemas.microsoft.com/office/powerpoint/2010/main" val="4170842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07</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Questions &amp; Answers (Q&amp;A)</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Prepared responses for teachers, evaluators, and audience members</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5334000" cy="2286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25500" y="1612900"/>
            <a:ext cx="4953000" cy="1261884"/>
          </a:xfrm>
          <a:prstGeom prst="rect">
            <a:avLst/>
          </a:prstGeom>
          <a:noFill/>
        </p:spPr>
        <p:txBody>
          <a:bodyPr vert="horz" wrap="square" rtlCol="0">
            <a:spAutoFit/>
          </a:bodyPr>
          <a:lstStyle/>
          <a:p>
            <a:r>
              <a:rPr lang="en-US" sz="1200" b="1" smtClean="0">
                <a:solidFill>
                  <a:srgbClr val="38BDF8"/>
                </a:solidFill>
                <a:latin typeface="Segoe UI" panose="020B0502040204020203" pitchFamily="34" charset="0"/>
              </a:rPr>
              <a:t>Q1: What is the most important quality in a friend?</a:t>
            </a:r>
          </a:p>
          <a:p>
            <a:endParaRPr lang="en-US" sz="1050" smtClean="0">
              <a:solidFill>
                <a:srgbClr val="94A3B8"/>
              </a:solidFill>
              <a:latin typeface="Segoe UI" panose="020B0502040204020203" pitchFamily="34" charset="0"/>
            </a:endParaRPr>
          </a:p>
          <a:p>
            <a:r>
              <a:rPr lang="en-US" sz="1100" b="1" smtClean="0">
                <a:solidFill>
                  <a:srgbClr val="FFFFFF"/>
                </a:solidFill>
                <a:latin typeface="Segoe UI" panose="020B0502040204020203" pitchFamily="34" charset="0"/>
              </a:rPr>
              <a:t>Answer: I think trust is one of the most important qualities because </a:t>
            </a:r>
            <a:r>
              <a:rPr lang="en-US" sz="1100" b="1" smtClean="0">
                <a:solidFill>
                  <a:srgbClr val="94A3B8"/>
                </a:solidFill>
                <a:latin typeface="Segoe UI" panose="020B0502040204020203" pitchFamily="34" charset="0"/>
              </a:rPr>
              <a:t>friends </a:t>
            </a:r>
            <a:r>
              <a:rPr lang="en-US" sz="1100" smtClean="0">
                <a:solidFill>
                  <a:srgbClr val="94A3B8"/>
                </a:solidFill>
                <a:latin typeface="Segoe UI" panose="020B0502040204020203" pitchFamily="34" charset="0"/>
              </a:rPr>
              <a:t>need </a:t>
            </a:r>
            <a:r>
              <a:rPr lang="en-US" sz="1050" smtClean="0">
                <a:solidFill>
                  <a:srgbClr val="94A3B8"/>
                </a:solidFill>
                <a:latin typeface="Segoe UI" panose="020B0502040204020203" pitchFamily="34" charset="0"/>
              </a:rPr>
              <a:t>to feel safe and respected.</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Trust is the foundation of every lasting bond. Without trust, communication becomes guarded.</a:t>
            </a:r>
            <a:endParaRPr lang="ru-RU" sz="1050">
              <a:solidFill>
                <a:srgbClr val="94A3B8"/>
              </a:solidFill>
              <a:latin typeface="Segoe UI" panose="020B0502040204020203" pitchFamily="34" charset="0"/>
            </a:endParaRPr>
          </a:p>
        </p:txBody>
      </p:sp>
      <p:sp>
        <p:nvSpPr>
          <p:cNvPr id="9" name="Скругленный прямоугольник 8"/>
          <p:cNvSpPr/>
          <p:nvPr/>
        </p:nvSpPr>
        <p:spPr>
          <a:xfrm>
            <a:off x="6223000" y="1460500"/>
            <a:ext cx="5334000" cy="2286000"/>
          </a:xfrm>
          <a:prstGeom prst="roundRect">
            <a:avLst/>
          </a:prstGeom>
          <a:solidFill>
            <a:srgbClr val="1E293B"/>
          </a:solidFill>
          <a:ln w="1524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6413500" y="1612900"/>
            <a:ext cx="4953000" cy="1261884"/>
          </a:xfrm>
          <a:prstGeom prst="rect">
            <a:avLst/>
          </a:prstGeom>
          <a:noFill/>
        </p:spPr>
        <p:txBody>
          <a:bodyPr vert="horz" wrap="square" rtlCol="0">
            <a:spAutoFit/>
          </a:bodyPr>
          <a:lstStyle/>
          <a:p>
            <a:r>
              <a:rPr lang="en-US" sz="1200" b="1" smtClean="0">
                <a:solidFill>
                  <a:srgbClr val="F59E0B"/>
                </a:solidFill>
                <a:latin typeface="Segoe UI" panose="020B0502040204020203" pitchFamily="34" charset="0"/>
              </a:rPr>
              <a:t>Q2: What should you do if you disagree with a friend?</a:t>
            </a:r>
          </a:p>
          <a:p>
            <a:endParaRPr lang="en-US" sz="1050" smtClean="0">
              <a:solidFill>
                <a:srgbClr val="94A3B8"/>
              </a:solidFill>
              <a:latin typeface="Segoe UI" panose="020B0502040204020203" pitchFamily="34" charset="0"/>
            </a:endParaRPr>
          </a:p>
          <a:p>
            <a:r>
              <a:rPr lang="en-US" sz="1100" b="1" smtClean="0">
                <a:solidFill>
                  <a:srgbClr val="FFFFFF"/>
                </a:solidFill>
                <a:latin typeface="Segoe UI" panose="020B0502040204020203" pitchFamily="34" charset="0"/>
              </a:rPr>
              <a:t>Answer: We should stay calm, listen to each other, and explain our </a:t>
            </a:r>
            <a:r>
              <a:rPr lang="en-US" sz="1100" b="1" smtClean="0">
                <a:solidFill>
                  <a:srgbClr val="94A3B8"/>
                </a:solidFill>
                <a:latin typeface="Segoe UI" panose="020B0502040204020203" pitchFamily="34" charset="0"/>
              </a:rPr>
              <a:t>opinions </a:t>
            </a:r>
            <a:r>
              <a:rPr lang="en-US" sz="1050" smtClean="0">
                <a:solidFill>
                  <a:srgbClr val="94A3B8"/>
                </a:solidFill>
                <a:latin typeface="Segoe UI" panose="020B0502040204020203" pitchFamily="34" charset="0"/>
              </a:rPr>
              <a:t>politely.</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Disagreements are natural. The key is respecting differences instead of turning them into fights.</a:t>
            </a:r>
            <a:endParaRPr lang="ru-RU" sz="1050">
              <a:solidFill>
                <a:srgbClr val="94A3B8"/>
              </a:solidFill>
              <a:latin typeface="Segoe UI" panose="020B0502040204020203" pitchFamily="34" charset="0"/>
            </a:endParaRPr>
          </a:p>
        </p:txBody>
      </p:sp>
      <p:sp>
        <p:nvSpPr>
          <p:cNvPr id="11" name="Скругленный прямоугольник 10"/>
          <p:cNvSpPr/>
          <p:nvPr/>
        </p:nvSpPr>
        <p:spPr>
          <a:xfrm>
            <a:off x="635000" y="3937000"/>
            <a:ext cx="5334000" cy="2286000"/>
          </a:xfrm>
          <a:prstGeom prst="roundRect">
            <a:avLst/>
          </a:prstGeom>
          <a:solidFill>
            <a:srgbClr val="1E293B"/>
          </a:solidFill>
          <a:ln w="1524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p:cNvSpPr txBox="1"/>
          <p:nvPr/>
        </p:nvSpPr>
        <p:spPr>
          <a:xfrm>
            <a:off x="825500" y="4089400"/>
            <a:ext cx="4953000" cy="1261884"/>
          </a:xfrm>
          <a:prstGeom prst="rect">
            <a:avLst/>
          </a:prstGeom>
          <a:noFill/>
        </p:spPr>
        <p:txBody>
          <a:bodyPr vert="horz" wrap="square" rtlCol="0">
            <a:spAutoFit/>
          </a:bodyPr>
          <a:lstStyle/>
          <a:p>
            <a:r>
              <a:rPr lang="en-US" sz="1200" b="1" smtClean="0">
                <a:solidFill>
                  <a:srgbClr val="34D399"/>
                </a:solidFill>
                <a:latin typeface="Segoe UI" panose="020B0502040204020203" pitchFamily="34" charset="0"/>
              </a:rPr>
              <a:t>Q3: How can you help a lonely student?</a:t>
            </a:r>
          </a:p>
          <a:p>
            <a:endParaRPr lang="en-US" sz="1050" smtClean="0">
              <a:solidFill>
                <a:srgbClr val="94A3B8"/>
              </a:solidFill>
              <a:latin typeface="Segoe UI" panose="020B0502040204020203" pitchFamily="34" charset="0"/>
            </a:endParaRPr>
          </a:p>
          <a:p>
            <a:r>
              <a:rPr lang="en-US" sz="1100" b="1" smtClean="0">
                <a:solidFill>
                  <a:srgbClr val="FFFFFF"/>
                </a:solidFill>
                <a:latin typeface="Segoe UI" panose="020B0502040204020203" pitchFamily="34" charset="0"/>
              </a:rPr>
              <a:t>Answer: I could start a conversation, invite them to join an activity, and </a:t>
            </a:r>
            <a:r>
              <a:rPr lang="en-US" sz="1100" b="1" smtClean="0">
                <a:solidFill>
                  <a:srgbClr val="94A3B8"/>
                </a:solidFill>
                <a:latin typeface="Segoe UI" panose="020B0502040204020203" pitchFamily="34" charset="0"/>
              </a:rPr>
              <a:t>make </a:t>
            </a:r>
            <a:r>
              <a:rPr lang="en-US" sz="1050" smtClean="0">
                <a:solidFill>
                  <a:srgbClr val="94A3B8"/>
                </a:solidFill>
                <a:latin typeface="Segoe UI" panose="020B0502040204020203" pitchFamily="34" charset="0"/>
              </a:rPr>
              <a:t>them feel welcome.</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Taking the first step requires courage, but it shows genuine empathy and leadership.</a:t>
            </a:r>
            <a:endParaRPr lang="ru-RU" sz="1050">
              <a:solidFill>
                <a:srgbClr val="94A3B8"/>
              </a:solidFill>
              <a:latin typeface="Segoe UI" panose="020B0502040204020203" pitchFamily="34" charset="0"/>
            </a:endParaRPr>
          </a:p>
        </p:txBody>
      </p:sp>
      <p:sp>
        <p:nvSpPr>
          <p:cNvPr id="13" name="Скругленный прямоугольник 12"/>
          <p:cNvSpPr/>
          <p:nvPr/>
        </p:nvSpPr>
        <p:spPr>
          <a:xfrm>
            <a:off x="6223000" y="3937000"/>
            <a:ext cx="5334000" cy="2286000"/>
          </a:xfrm>
          <a:prstGeom prst="roundRect">
            <a:avLst/>
          </a:prstGeom>
          <a:solidFill>
            <a:srgbClr val="1E293B"/>
          </a:solidFill>
          <a:ln w="15240">
            <a:solidFill>
              <a:srgbClr val="C084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6413500" y="4089400"/>
            <a:ext cx="4953000" cy="1261884"/>
          </a:xfrm>
          <a:prstGeom prst="rect">
            <a:avLst/>
          </a:prstGeom>
          <a:noFill/>
        </p:spPr>
        <p:txBody>
          <a:bodyPr vert="horz" wrap="square" rtlCol="0">
            <a:spAutoFit/>
          </a:bodyPr>
          <a:lstStyle/>
          <a:p>
            <a:r>
              <a:rPr lang="en-US" sz="1200" b="1" smtClean="0">
                <a:solidFill>
                  <a:srgbClr val="C084FC"/>
                </a:solidFill>
                <a:latin typeface="Segoe UI" panose="020B0502040204020203" pitchFamily="34" charset="0"/>
              </a:rPr>
              <a:t>Q4: Can a friendship survive a misunderstanding?</a:t>
            </a:r>
          </a:p>
          <a:p>
            <a:endParaRPr lang="en-US" sz="1050" smtClean="0">
              <a:solidFill>
                <a:srgbClr val="94A3B8"/>
              </a:solidFill>
              <a:latin typeface="Segoe UI" panose="020B0502040204020203" pitchFamily="34" charset="0"/>
            </a:endParaRPr>
          </a:p>
          <a:p>
            <a:r>
              <a:rPr lang="en-US" sz="1100" b="1" smtClean="0">
                <a:solidFill>
                  <a:srgbClr val="FFFFFF"/>
                </a:solidFill>
                <a:latin typeface="Segoe UI" panose="020B0502040204020203" pitchFamily="34" charset="0"/>
              </a:rPr>
              <a:t>Answer: Yes. If both friends communicate honestly and are willing to </a:t>
            </a:r>
            <a:r>
              <a:rPr lang="en-US" sz="1100" smtClean="0">
                <a:solidFill>
                  <a:srgbClr val="94A3B8"/>
                </a:solidFill>
                <a:latin typeface="Segoe UI" panose="020B0502040204020203" pitchFamily="34" charset="0"/>
              </a:rPr>
              <a:t>apologise, </a:t>
            </a:r>
            <a:r>
              <a:rPr lang="en-US" sz="1050" smtClean="0">
                <a:solidFill>
                  <a:srgbClr val="94A3B8"/>
                </a:solidFill>
                <a:latin typeface="Segoe UI" panose="020B0502040204020203" pitchFamily="34" charset="0"/>
              </a:rPr>
              <a:t>their friendship can become stronger.</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Overcoming conflicts together often makes friendships even more durable and authentic.</a:t>
            </a:r>
            <a:endParaRPr lang="ru-RU" sz="1050">
              <a:solidFill>
                <a:srgbClr val="94A3B8"/>
              </a:solidFill>
              <a:latin typeface="Segoe UI" panose="020B0502040204020203" pitchFamily="34" charset="0"/>
            </a:endParaRPr>
          </a:p>
        </p:txBody>
      </p:sp>
    </p:spTree>
    <p:extLst>
      <p:ext uri="{BB962C8B-B14F-4D97-AF65-F5344CB8AC3E}">
        <p14:creationId xmlns:p14="http://schemas.microsoft.com/office/powerpoint/2010/main" val="86707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08</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Team Work Plan &amp; Poster Layout</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Organizational matrix, team agreement, and visual poster layout</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5461000" cy="4953000"/>
          </a:xfrm>
          <a:prstGeom prst="roundRect">
            <a:avLst/>
          </a:prstGeom>
          <a:solidFill>
            <a:srgbClr val="1E293B"/>
          </a:solidFill>
          <a:ln w="15240">
            <a:solidFill>
              <a:srgbClr val="38BD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25500" y="1587500"/>
            <a:ext cx="5080000" cy="2716128"/>
          </a:xfrm>
          <a:prstGeom prst="rect">
            <a:avLst/>
          </a:prstGeom>
          <a:noFill/>
        </p:spPr>
        <p:txBody>
          <a:bodyPr vert="horz" wrap="square" rtlCol="0">
            <a:spAutoFit/>
          </a:bodyPr>
          <a:lstStyle/>
          <a:p>
            <a:r>
              <a:rPr lang="en-US" sz="1300" b="1" smtClean="0">
                <a:solidFill>
                  <a:srgbClr val="38BDF8"/>
                </a:solidFill>
                <a:latin typeface="Segoe UI" panose="020B0502040204020203" pitchFamily="34" charset="0"/>
              </a:rPr>
              <a:t>TEAM ROLES &amp; RESPONSIBILITIES</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Member 1 (Campaign Leader):</a:t>
            </a:r>
          </a:p>
          <a:p>
            <a:r>
              <a:rPr lang="en-US" sz="1050" smtClean="0">
                <a:solidFill>
                  <a:srgbClr val="94A3B8"/>
                </a:solidFill>
                <a:latin typeface="Segoe UI" panose="020B0502040204020203" pitchFamily="34" charset="0"/>
              </a:rPr>
              <a:t>  Mission, slogan, opening speech &amp; overall coordination.</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Member 2 (Rules Specialist):</a:t>
            </a:r>
          </a:p>
          <a:p>
            <a:r>
              <a:rPr lang="en-US" sz="1050" smtClean="0">
                <a:solidFill>
                  <a:srgbClr val="94A3B8"/>
                </a:solidFill>
                <a:latin typeface="Segoe UI" panose="020B0502040204020203" pitchFamily="34" charset="0"/>
              </a:rPr>
              <a:t>  Five golden rules, real-life examples &amp; speech 2.</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Member 3 (Advice &amp; Activity):</a:t>
            </a:r>
          </a:p>
          <a:p>
            <a:r>
              <a:rPr lang="en-US" sz="1050" smtClean="0">
                <a:solidFill>
                  <a:srgbClr val="94A3B8"/>
                </a:solidFill>
                <a:latin typeface="Segoe UI" panose="020B0502040204020203" pitchFamily="34" charset="0"/>
              </a:rPr>
              <a:t>  Three tips, conditional sentences &amp; 7-day challenge.</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 Member 4 (Conclusion &amp; Q&amp;A):</a:t>
            </a:r>
          </a:p>
          <a:p>
            <a:r>
              <a:rPr lang="en-US" sz="1050" smtClean="0">
                <a:solidFill>
                  <a:srgbClr val="94A3B8"/>
                </a:solidFill>
                <a:latin typeface="Segoe UI" panose="020B0502040204020203" pitchFamily="34" charset="0"/>
              </a:rPr>
              <a:t>  Closing call to action, Q&amp;A moderation &amp; poster design.</a:t>
            </a:r>
          </a:p>
          <a:p>
            <a:endParaRPr lang="en-US" sz="1050" smtClean="0">
              <a:solidFill>
                <a:srgbClr val="94A3B8"/>
              </a:solidFill>
              <a:latin typeface="Segoe UI" panose="020B0502040204020203" pitchFamily="34" charset="0"/>
            </a:endParaRPr>
          </a:p>
          <a:p>
            <a:r>
              <a:rPr lang="en-US" sz="1050" smtClean="0">
                <a:solidFill>
                  <a:srgbClr val="94A3B8"/>
                </a:solidFill>
                <a:latin typeface="Segoe UI" panose="020B0502040204020203" pitchFamily="34" charset="0"/>
              </a:rPr>
              <a:t>Team Agreement: We listen to everyone's ideas, divide work fairly, practise together, speak English, and resolve disagreements respectfully.</a:t>
            </a:r>
            <a:endParaRPr lang="ru-RU" sz="1050">
              <a:solidFill>
                <a:srgbClr val="94A3B8"/>
              </a:solidFill>
              <a:latin typeface="Segoe UI" panose="020B0502040204020203" pitchFamily="34" charset="0"/>
            </a:endParaRPr>
          </a:p>
        </p:txBody>
      </p:sp>
      <p:sp>
        <p:nvSpPr>
          <p:cNvPr id="9" name="Скругленный прямоугольник 8"/>
          <p:cNvSpPr/>
          <p:nvPr/>
        </p:nvSpPr>
        <p:spPr>
          <a:xfrm>
            <a:off x="6223000" y="1460500"/>
            <a:ext cx="5334000" cy="4953000"/>
          </a:xfrm>
          <a:prstGeom prst="roundRect">
            <a:avLst/>
          </a:prstGeom>
          <a:solidFill>
            <a:srgbClr val="182133"/>
          </a:solidFill>
          <a:ln w="1905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ый прямоугольник 9"/>
          <p:cNvSpPr/>
          <p:nvPr/>
        </p:nvSpPr>
        <p:spPr>
          <a:xfrm>
            <a:off x="6477000" y="1651000"/>
            <a:ext cx="4826000" cy="5715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smtClean="0">
                <a:solidFill>
                  <a:srgbClr val="FFFFFF"/>
                </a:solidFill>
                <a:latin typeface="Segoe UI" panose="020B0502040204020203" pitchFamily="34" charset="0"/>
              </a:rPr>
              <a:t>BE A BETTER FRIEND!</a:t>
            </a:r>
          </a:p>
          <a:p>
            <a:pPr algn="ctr"/>
            <a:r>
              <a:rPr lang="en-US" sz="1050" b="1" smtClean="0">
                <a:solidFill>
                  <a:srgbClr val="FFFFFF"/>
                </a:solidFill>
                <a:latin typeface="Segoe UI" panose="020B0502040204020203" pitchFamily="34" charset="0"/>
              </a:rPr>
              <a:t>BE KIND * BE HONEST * SHOW RESPECT * OFFER SUPPORT</a:t>
            </a:r>
            <a:endParaRPr lang="ru-RU" sz="1050" b="1">
              <a:solidFill>
                <a:srgbClr val="FFFFFF"/>
              </a:solidFill>
              <a:latin typeface="Segoe UI" panose="020B0502040204020203" pitchFamily="34" charset="0"/>
            </a:endParaRPr>
          </a:p>
        </p:txBody>
      </p:sp>
      <p:sp>
        <p:nvSpPr>
          <p:cNvPr id="11" name="Скругленный прямоугольник 10"/>
          <p:cNvSpPr/>
          <p:nvPr/>
        </p:nvSpPr>
        <p:spPr>
          <a:xfrm>
            <a:off x="6477000" y="2349500"/>
            <a:ext cx="4826000" cy="1651000"/>
          </a:xfrm>
          <a:prstGeom prst="roundRect">
            <a:avLst/>
          </a:prstGeom>
          <a:solidFill>
            <a:srgbClr val="1E293B"/>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F59E0B"/>
                </a:solidFill>
                <a:latin typeface="Segoe UI" panose="020B0502040204020203" pitchFamily="34" charset="0"/>
              </a:rPr>
              <a:t>OUR 5 RULES</a:t>
            </a:r>
          </a:p>
          <a:p>
            <a:pPr algn="ctr"/>
            <a:r>
              <a:rPr lang="en-US" sz="1100" smtClean="0">
                <a:solidFill>
                  <a:srgbClr val="FFFFFF"/>
                </a:solidFill>
                <a:latin typeface="Segoe UI" panose="020B0502040204020203" pitchFamily="34" charset="0"/>
              </a:rPr>
              <a:t>1. Listen carefully.</a:t>
            </a:r>
          </a:p>
          <a:p>
            <a:pPr algn="ctr"/>
            <a:r>
              <a:rPr lang="en-US" sz="1100" smtClean="0">
                <a:solidFill>
                  <a:srgbClr val="FFFFFF"/>
                </a:solidFill>
                <a:latin typeface="Segoe UI" panose="020B0502040204020203" pitchFamily="34" charset="0"/>
              </a:rPr>
              <a:t>2. Be honest and trustworthy.</a:t>
            </a:r>
          </a:p>
          <a:p>
            <a:pPr algn="ctr"/>
            <a:r>
              <a:rPr lang="en-US" sz="1100" smtClean="0">
                <a:solidFill>
                  <a:srgbClr val="FFFFFF"/>
                </a:solidFill>
                <a:latin typeface="Segoe UI" panose="020B0502040204020203" pitchFamily="34" charset="0"/>
              </a:rPr>
              <a:t>3. Show respect.</a:t>
            </a:r>
          </a:p>
          <a:p>
            <a:pPr algn="ctr"/>
            <a:r>
              <a:rPr lang="en-US" sz="1100" smtClean="0">
                <a:solidFill>
                  <a:srgbClr val="FFFFFF"/>
                </a:solidFill>
                <a:latin typeface="Segoe UI" panose="020B0502040204020203" pitchFamily="34" charset="0"/>
              </a:rPr>
              <a:t>4. Offer support.</a:t>
            </a:r>
          </a:p>
          <a:p>
            <a:pPr algn="ctr"/>
            <a:r>
              <a:rPr lang="en-US" sz="1100" smtClean="0">
                <a:solidFill>
                  <a:srgbClr val="FFFFFF"/>
                </a:solidFill>
                <a:latin typeface="Segoe UI" panose="020B0502040204020203" pitchFamily="34" charset="0"/>
              </a:rPr>
              <a:t>5. Solve problems calmly.</a:t>
            </a:r>
            <a:endParaRPr lang="ru-RU" sz="1100">
              <a:solidFill>
                <a:srgbClr val="FFFFFF"/>
              </a:solidFill>
              <a:latin typeface="Segoe UI" panose="020B0502040204020203" pitchFamily="34" charset="0"/>
            </a:endParaRPr>
          </a:p>
        </p:txBody>
      </p:sp>
      <p:sp>
        <p:nvSpPr>
          <p:cNvPr id="12" name="Скругленный прямоугольник 11"/>
          <p:cNvSpPr/>
          <p:nvPr/>
        </p:nvSpPr>
        <p:spPr>
          <a:xfrm>
            <a:off x="6477000" y="4127500"/>
            <a:ext cx="4826000" cy="1206500"/>
          </a:xfrm>
          <a:prstGeom prst="roundRect">
            <a:avLst/>
          </a:prstGeom>
          <a:solidFill>
            <a:srgbClr val="1E293B"/>
          </a:solidFill>
          <a:ln>
            <a:solidFill>
              <a:srgbClr val="334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mtClean="0">
                <a:solidFill>
                  <a:srgbClr val="34D399"/>
                </a:solidFill>
                <a:latin typeface="Segoe UI" panose="020B0502040204020203" pitchFamily="34" charset="0"/>
              </a:rPr>
              <a:t>3 TIPS FOR SUCCESS</a:t>
            </a:r>
          </a:p>
          <a:p>
            <a:pPr algn="ctr"/>
            <a:r>
              <a:rPr lang="en-US" sz="1100" smtClean="0">
                <a:solidFill>
                  <a:srgbClr val="FFFFFF"/>
                </a:solidFill>
                <a:latin typeface="Segoe UI" panose="020B0502040204020203" pitchFamily="34" charset="0"/>
              </a:rPr>
              <a:t>* Listen without judging.</a:t>
            </a:r>
          </a:p>
          <a:p>
            <a:pPr algn="ctr"/>
            <a:r>
              <a:rPr lang="en-US" sz="1100" smtClean="0">
                <a:solidFill>
                  <a:srgbClr val="FFFFFF"/>
                </a:solidFill>
                <a:latin typeface="Segoe UI" panose="020B0502040204020203" pitchFamily="34" charset="0"/>
              </a:rPr>
              <a:t>* Speak honestly.</a:t>
            </a:r>
          </a:p>
          <a:p>
            <a:pPr algn="ctr"/>
            <a:r>
              <a:rPr lang="en-US" sz="1100" smtClean="0">
                <a:solidFill>
                  <a:srgbClr val="FFFFFF"/>
                </a:solidFill>
                <a:latin typeface="Segoe UI" panose="020B0502040204020203" pitchFamily="34" charset="0"/>
              </a:rPr>
              <a:t>* Include someone who feels left out.</a:t>
            </a:r>
            <a:endParaRPr lang="ru-RU" sz="1100">
              <a:solidFill>
                <a:srgbClr val="FFFFFF"/>
              </a:solidFill>
              <a:latin typeface="Segoe UI" panose="020B0502040204020203" pitchFamily="34" charset="0"/>
            </a:endParaRPr>
          </a:p>
        </p:txBody>
      </p:sp>
      <p:sp>
        <p:nvSpPr>
          <p:cNvPr id="13" name="TextBox 12"/>
          <p:cNvSpPr txBox="1"/>
          <p:nvPr/>
        </p:nvSpPr>
        <p:spPr>
          <a:xfrm>
            <a:off x="6477000" y="5461000"/>
            <a:ext cx="4826000" cy="461665"/>
          </a:xfrm>
          <a:prstGeom prst="rect">
            <a:avLst/>
          </a:prstGeom>
          <a:noFill/>
        </p:spPr>
        <p:txBody>
          <a:bodyPr vert="horz" rtlCol="0">
            <a:spAutoFit/>
          </a:bodyPr>
          <a:lstStyle/>
          <a:p>
            <a:pPr algn="ctr"/>
            <a:r>
              <a:rPr lang="en-US" sz="1200" i="1" smtClean="0">
                <a:solidFill>
                  <a:srgbClr val="F59E0B"/>
                </a:solidFill>
                <a:latin typeface="Segoe UI" panose="020B0502040204020203" pitchFamily="34" charset="0"/>
              </a:rPr>
              <a:t>"Be the friend you wish to have!"`r`nGrade 11 BSB-1 Project Poster Design</a:t>
            </a:r>
            <a:endParaRPr lang="ru-RU" sz="1200" i="1">
              <a:solidFill>
                <a:srgbClr val="F59E0B"/>
              </a:solidFill>
              <a:latin typeface="Segoe UI" panose="020B0502040204020203" pitchFamily="34" charset="0"/>
            </a:endParaRPr>
          </a:p>
        </p:txBody>
      </p:sp>
    </p:spTree>
    <p:extLst>
      <p:ext uri="{BB962C8B-B14F-4D97-AF65-F5344CB8AC3E}">
        <p14:creationId xmlns:p14="http://schemas.microsoft.com/office/powerpoint/2010/main" val="2153782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0" y="0"/>
            <a:ext cx="12192000" cy="508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Скругленный прямоугольник 3"/>
          <p:cNvSpPr/>
          <p:nvPr/>
        </p:nvSpPr>
        <p:spPr>
          <a:xfrm>
            <a:off x="635000" y="304800"/>
            <a:ext cx="2286000" cy="279400"/>
          </a:xfrm>
          <a:prstGeom prst="roundRect">
            <a:avLst/>
          </a:prstGeom>
          <a:solidFill>
            <a:srgbClr val="1E3A8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smtClean="0">
                <a:solidFill>
                  <a:srgbClr val="38BDF8"/>
                </a:solidFill>
                <a:latin typeface="Segoe UI" panose="020B0502040204020203" pitchFamily="34" charset="0"/>
              </a:rPr>
              <a:t>SECTION 09</a:t>
            </a:r>
            <a:endParaRPr lang="ru-RU" sz="900" b="1">
              <a:solidFill>
                <a:srgbClr val="38BDF8"/>
              </a:solidFill>
              <a:latin typeface="Segoe UI" panose="020B0502040204020203" pitchFamily="34" charset="0"/>
            </a:endParaRPr>
          </a:p>
        </p:txBody>
      </p:sp>
      <p:sp>
        <p:nvSpPr>
          <p:cNvPr id="5" name="TextBox 4"/>
          <p:cNvSpPr txBox="1"/>
          <p:nvPr/>
        </p:nvSpPr>
        <p:spPr>
          <a:xfrm>
            <a:off x="635000" y="609600"/>
            <a:ext cx="10922000" cy="384721"/>
          </a:xfrm>
          <a:prstGeom prst="rect">
            <a:avLst/>
          </a:prstGeom>
          <a:noFill/>
        </p:spPr>
        <p:txBody>
          <a:bodyPr vert="horz" lIns="0" tIns="0" rtlCol="0">
            <a:spAutoFit/>
          </a:bodyPr>
          <a:lstStyle/>
          <a:p>
            <a:r>
              <a:rPr lang="en-US" sz="2200" b="1" smtClean="0">
                <a:solidFill>
                  <a:srgbClr val="FFFFFF"/>
                </a:solidFill>
                <a:latin typeface="Segoe UI" panose="020B0502040204020203" pitchFamily="34" charset="0"/>
              </a:rPr>
              <a:t>Final Checklist &amp; Closing Message</a:t>
            </a:r>
            <a:endParaRPr lang="ru-RU" sz="2200" b="1">
              <a:solidFill>
                <a:srgbClr val="FFFFFF"/>
              </a:solidFill>
              <a:latin typeface="Segoe UI" panose="020B0502040204020203" pitchFamily="34" charset="0"/>
            </a:endParaRPr>
          </a:p>
        </p:txBody>
      </p:sp>
      <p:sp>
        <p:nvSpPr>
          <p:cNvPr id="6" name="TextBox 5"/>
          <p:cNvSpPr txBox="1"/>
          <p:nvPr/>
        </p:nvSpPr>
        <p:spPr>
          <a:xfrm>
            <a:off x="635000" y="1066800"/>
            <a:ext cx="10922000" cy="215444"/>
          </a:xfrm>
          <a:prstGeom prst="rect">
            <a:avLst/>
          </a:prstGeom>
          <a:noFill/>
        </p:spPr>
        <p:txBody>
          <a:bodyPr vert="horz" lIns="0" tIns="0" rtlCol="0">
            <a:spAutoFit/>
          </a:bodyPr>
          <a:lstStyle/>
          <a:p>
            <a:r>
              <a:rPr lang="en-US" sz="1100" smtClean="0">
                <a:solidFill>
                  <a:srgbClr val="94A3B8"/>
                </a:solidFill>
                <a:latin typeface="Segoe UI" panose="020B0502040204020203" pitchFamily="34" charset="0"/>
              </a:rPr>
              <a:t>Ensuring full compliance with BSB-1 criteria and final call to action</a:t>
            </a:r>
            <a:endParaRPr lang="ru-RU" sz="1100">
              <a:solidFill>
                <a:srgbClr val="94A3B8"/>
              </a:solidFill>
              <a:latin typeface="Segoe UI" panose="020B0502040204020203" pitchFamily="34" charset="0"/>
            </a:endParaRPr>
          </a:p>
        </p:txBody>
      </p:sp>
      <p:sp>
        <p:nvSpPr>
          <p:cNvPr id="7" name="Скругленный прямоугольник 6"/>
          <p:cNvSpPr/>
          <p:nvPr/>
        </p:nvSpPr>
        <p:spPr>
          <a:xfrm>
            <a:off x="635000" y="1460500"/>
            <a:ext cx="10922000" cy="2984500"/>
          </a:xfrm>
          <a:prstGeom prst="roundRect">
            <a:avLst/>
          </a:prstGeom>
          <a:solidFill>
            <a:srgbClr val="1E293B"/>
          </a:solidFill>
          <a:ln w="19050">
            <a:solidFill>
              <a:srgbClr val="34D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889000" y="1587500"/>
            <a:ext cx="10414000" cy="1708160"/>
          </a:xfrm>
          <a:prstGeom prst="rect">
            <a:avLst/>
          </a:prstGeom>
          <a:noFill/>
        </p:spPr>
        <p:txBody>
          <a:bodyPr vert="horz" wrap="square" rtlCol="0">
            <a:spAutoFit/>
          </a:bodyPr>
          <a:lstStyle/>
          <a:p>
            <a:r>
              <a:rPr lang="en-US" sz="1300" b="1" smtClean="0">
                <a:solidFill>
                  <a:srgbClr val="34D399"/>
                </a:solidFill>
                <a:latin typeface="Segoe UI" panose="020B0502040204020203" pitchFamily="34" charset="0"/>
              </a:rPr>
              <a:t>BSB-1 EVALUATION CRITERIA CHECKLIST</a:t>
            </a:r>
          </a:p>
          <a:p>
            <a:endParaRPr lang="en-US" sz="1150" smtClean="0">
              <a:solidFill>
                <a:srgbClr val="FFFFFF"/>
              </a:solidFill>
              <a:latin typeface="Segoe UI" panose="020B0502040204020203" pitchFamily="34" charset="0"/>
            </a:endParaRPr>
          </a:p>
          <a:p>
            <a:r>
              <a:rPr lang="en-US" sz="1150" smtClean="0">
                <a:solidFill>
                  <a:srgbClr val="FFFFFF"/>
                </a:solidFill>
                <a:latin typeface="Segoe UI" panose="020B0502040204020203" pitchFamily="34" charset="0"/>
              </a:rPr>
              <a:t>[ YES ]  The poster and presentation have a clear title and inspiring slogan.</a:t>
            </a:r>
          </a:p>
          <a:p>
            <a:r>
              <a:rPr lang="en-US" sz="1150" smtClean="0">
                <a:solidFill>
                  <a:srgbClr val="FFFFFF"/>
                </a:solidFill>
                <a:latin typeface="Segoe UI" panose="020B0502040204020203" pitchFamily="34" charset="0"/>
              </a:rPr>
              <a:t>[ YES ]  All five friendship rules are clearly defined and illustrated.</a:t>
            </a:r>
          </a:p>
          <a:p>
            <a:r>
              <a:rPr lang="en-US" sz="1150" smtClean="0">
                <a:solidFill>
                  <a:srgbClr val="FFFFFF"/>
                </a:solidFill>
                <a:latin typeface="Segoe UI" panose="020B0502040204020203" pitchFamily="34" charset="0"/>
              </a:rPr>
              <a:t>[ YES ]  Three actionable pieces of advice are included with grammatical examples.</a:t>
            </a:r>
          </a:p>
          <a:p>
            <a:r>
              <a:rPr lang="en-US" sz="1150" smtClean="0">
                <a:solidFill>
                  <a:srgbClr val="FFFFFF"/>
                </a:solidFill>
                <a:latin typeface="Segoe UI" panose="020B0502040204020203" pitchFamily="34" charset="0"/>
              </a:rPr>
              <a:t>[ YES ]  All four team members have distinct speaking roles in fluent English.</a:t>
            </a:r>
          </a:p>
          <a:p>
            <a:r>
              <a:rPr lang="en-US" sz="1150" smtClean="0">
                <a:solidFill>
                  <a:srgbClr val="FFFFFF"/>
                </a:solidFill>
                <a:latin typeface="Segoe UI" panose="020B0502040204020203" pitchFamily="34" charset="0"/>
              </a:rPr>
              <a:t>[ YES ]  Comparatives, modals, and conditionals are used correctly.</a:t>
            </a:r>
          </a:p>
          <a:p>
            <a:r>
              <a:rPr lang="en-US" sz="1150" smtClean="0">
                <a:solidFill>
                  <a:srgbClr val="FFFFFF"/>
                </a:solidFill>
                <a:latin typeface="Segoe UI" panose="020B0502040204020203" pitchFamily="34" charset="0"/>
              </a:rPr>
              <a:t>[ YES ]  The group has practised pronunciation, eye contact, and timing.</a:t>
            </a:r>
          </a:p>
          <a:p>
            <a:r>
              <a:rPr lang="en-US" sz="1150" smtClean="0">
                <a:solidFill>
                  <a:srgbClr val="FFFFFF"/>
                </a:solidFill>
                <a:latin typeface="Segoe UI" panose="020B0502040204020203" pitchFamily="34" charset="0"/>
              </a:rPr>
              <a:t>[ YES ]  Every team member is prepared to answer questions during Q&amp;A.</a:t>
            </a:r>
            <a:endParaRPr lang="ru-RU" sz="1150">
              <a:solidFill>
                <a:srgbClr val="FFFFFF"/>
              </a:solidFill>
              <a:latin typeface="Segoe UI" panose="020B0502040204020203" pitchFamily="34" charset="0"/>
            </a:endParaRPr>
          </a:p>
        </p:txBody>
      </p:sp>
      <p:sp>
        <p:nvSpPr>
          <p:cNvPr id="9" name="Скругленный прямоугольник 8"/>
          <p:cNvSpPr/>
          <p:nvPr/>
        </p:nvSpPr>
        <p:spPr>
          <a:xfrm>
            <a:off x="635000" y="4635500"/>
            <a:ext cx="10922000" cy="1714500"/>
          </a:xfrm>
          <a:prstGeom prst="roundRect">
            <a:avLst/>
          </a:prstGeom>
          <a:solidFill>
            <a:srgbClr val="182133"/>
          </a:solidFill>
          <a:ln w="25400">
            <a:solidFill>
              <a:srgbClr val="F59E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889000" y="4762500"/>
            <a:ext cx="10414000" cy="323165"/>
          </a:xfrm>
          <a:prstGeom prst="rect">
            <a:avLst/>
          </a:prstGeom>
          <a:noFill/>
        </p:spPr>
        <p:txBody>
          <a:bodyPr vert="horz" rtlCol="0">
            <a:spAutoFit/>
          </a:bodyPr>
          <a:lstStyle/>
          <a:p>
            <a:pPr algn="ctr"/>
            <a:r>
              <a:rPr lang="en-US" sz="1500" i="1" smtClean="0">
                <a:solidFill>
                  <a:srgbClr val="FFFFFF"/>
                </a:solidFill>
                <a:latin typeface="Segoe UI" panose="020B0502040204020203" pitchFamily="34" charset="0"/>
              </a:rPr>
              <a:t>"Remember, a real friend does not have to solve every problem; sometimes, being present is enough."</a:t>
            </a:r>
            <a:endParaRPr lang="ru-RU" sz="1500" i="1">
              <a:solidFill>
                <a:srgbClr val="FFFFFF"/>
              </a:solidFill>
              <a:latin typeface="Segoe UI" panose="020B0502040204020203" pitchFamily="34" charset="0"/>
            </a:endParaRPr>
          </a:p>
        </p:txBody>
      </p:sp>
      <p:sp>
        <p:nvSpPr>
          <p:cNvPr id="11" name="TextBox 10"/>
          <p:cNvSpPr txBox="1"/>
          <p:nvPr/>
        </p:nvSpPr>
        <p:spPr>
          <a:xfrm>
            <a:off x="889000" y="5524500"/>
            <a:ext cx="10414000" cy="292388"/>
          </a:xfrm>
          <a:prstGeom prst="rect">
            <a:avLst/>
          </a:prstGeom>
          <a:noFill/>
        </p:spPr>
        <p:txBody>
          <a:bodyPr vert="horz" rtlCol="0">
            <a:spAutoFit/>
          </a:bodyPr>
          <a:lstStyle/>
          <a:p>
            <a:pPr algn="ctr"/>
            <a:r>
              <a:rPr lang="en-US" sz="1300" b="1" smtClean="0">
                <a:solidFill>
                  <a:srgbClr val="38BDF8"/>
                </a:solidFill>
                <a:latin typeface="Segoe UI" panose="020B0502040204020203" pitchFamily="34" charset="0"/>
              </a:rPr>
              <a:t>THANK YOU FOR LISTENING!  *  BE KIND, BE HONEST, BE A BETTER FRIEND!</a:t>
            </a:r>
            <a:endParaRPr lang="ru-RU" sz="1300" b="1">
              <a:solidFill>
                <a:srgbClr val="38BDF8"/>
              </a:solidFill>
              <a:latin typeface="Segoe UI" panose="020B0502040204020203" pitchFamily="34" charset="0"/>
            </a:endParaRPr>
          </a:p>
        </p:txBody>
      </p:sp>
    </p:spTree>
    <p:extLst>
      <p:ext uri="{BB962C8B-B14F-4D97-AF65-F5344CB8AC3E}">
        <p14:creationId xmlns:p14="http://schemas.microsoft.com/office/powerpoint/2010/main" val="303454451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1809</Words>
  <Application>Microsoft Office PowerPoint</Application>
  <PresentationFormat>Произвольный</PresentationFormat>
  <Paragraphs>234</Paragraphs>
  <Slides>10</Slides>
  <Notes>10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Arial</vt:lpstr>
      <vt:lpstr>Calibri</vt:lpstr>
      <vt:lpstr>Calibri Light</vt:lpstr>
      <vt:lpstr>Segoe UI</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asus</dc:creator>
  <cp:lastModifiedBy>asus</cp:lastModifiedBy>
  <cp:revision>1</cp:revision>
  <dcterms:created xsi:type="dcterms:W3CDTF">2026-10-20T15:22:54Z</dcterms:created>
  <dcterms:modified xsi:type="dcterms:W3CDTF">2026-10-20T15:22:54Z</dcterms:modified>
</cp:coreProperties>
</file>